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3" r:id="rId4"/>
    <p:sldId id="264" r:id="rId5"/>
    <p:sldId id="299" r:id="rId6"/>
    <p:sldId id="265" r:id="rId7"/>
    <p:sldId id="266" r:id="rId8"/>
    <p:sldId id="267" r:id="rId9"/>
    <p:sldId id="334" r:id="rId10"/>
    <p:sldId id="335" r:id="rId11"/>
    <p:sldId id="300"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09" r:id="rId42"/>
    <p:sldId id="298" r:id="rId43"/>
    <p:sldId id="301" r:id="rId44"/>
    <p:sldId id="311" r:id="rId45"/>
    <p:sldId id="302" r:id="rId46"/>
    <p:sldId id="305" r:id="rId47"/>
    <p:sldId id="306" r:id="rId48"/>
    <p:sldId id="307" r:id="rId49"/>
    <p:sldId id="310" r:id="rId50"/>
    <p:sldId id="308" r:id="rId51"/>
    <p:sldId id="312" r:id="rId52"/>
    <p:sldId id="313" r:id="rId53"/>
    <p:sldId id="314" r:id="rId54"/>
    <p:sldId id="315" r:id="rId55"/>
    <p:sldId id="316" r:id="rId56"/>
    <p:sldId id="317" r:id="rId57"/>
    <p:sldId id="318" r:id="rId58"/>
    <p:sldId id="336" r:id="rId59"/>
    <p:sldId id="320" r:id="rId60"/>
    <p:sldId id="319" r:id="rId61"/>
    <p:sldId id="321" r:id="rId62"/>
    <p:sldId id="322" r:id="rId63"/>
    <p:sldId id="323" r:id="rId64"/>
    <p:sldId id="324" r:id="rId65"/>
    <p:sldId id="325" r:id="rId66"/>
    <p:sldId id="326" r:id="rId67"/>
    <p:sldId id="327" r:id="rId68"/>
    <p:sldId id="337" r:id="rId69"/>
    <p:sldId id="328" r:id="rId70"/>
    <p:sldId id="338" r:id="rId71"/>
    <p:sldId id="343" r:id="rId72"/>
    <p:sldId id="339" r:id="rId73"/>
    <p:sldId id="344" r:id="rId74"/>
    <p:sldId id="340" r:id="rId75"/>
    <p:sldId id="345" r:id="rId76"/>
    <p:sldId id="341" r:id="rId77"/>
    <p:sldId id="346" r:id="rId78"/>
    <p:sldId id="329" r:id="rId79"/>
    <p:sldId id="347" r:id="rId80"/>
    <p:sldId id="330" r:id="rId81"/>
    <p:sldId id="331" r:id="rId82"/>
    <p:sldId id="348" r:id="rId83"/>
    <p:sldId id="332" r:id="rId84"/>
    <p:sldId id="333" r:id="rId85"/>
    <p:sldId id="342" r:id="rId86"/>
    <p:sldId id="381" r:id="rId87"/>
    <p:sldId id="382" r:id="rId88"/>
    <p:sldId id="383" r:id="rId89"/>
    <p:sldId id="384" r:id="rId90"/>
    <p:sldId id="385" r:id="rId91"/>
    <p:sldId id="386" r:id="rId92"/>
    <p:sldId id="387" r:id="rId93"/>
    <p:sldId id="388" r:id="rId94"/>
    <p:sldId id="389" r:id="rId95"/>
    <p:sldId id="390" r:id="rId96"/>
    <p:sldId id="391" r:id="rId97"/>
    <p:sldId id="349" r:id="rId98"/>
    <p:sldId id="350" r:id="rId99"/>
    <p:sldId id="352" r:id="rId100"/>
    <p:sldId id="367" r:id="rId101"/>
    <p:sldId id="368" r:id="rId102"/>
    <p:sldId id="369" r:id="rId103"/>
    <p:sldId id="370" r:id="rId104"/>
    <p:sldId id="371" r:id="rId105"/>
    <p:sldId id="372" r:id="rId106"/>
    <p:sldId id="373" r:id="rId107"/>
    <p:sldId id="374" r:id="rId108"/>
    <p:sldId id="375" r:id="rId109"/>
    <p:sldId id="376" r:id="rId110"/>
    <p:sldId id="377" r:id="rId111"/>
    <p:sldId id="378" r:id="rId112"/>
    <p:sldId id="380" r:id="rId113"/>
    <p:sldId id="356" r:id="rId114"/>
    <p:sldId id="357" r:id="rId115"/>
    <p:sldId id="358" r:id="rId116"/>
    <p:sldId id="359" r:id="rId117"/>
    <p:sldId id="360" r:id="rId118"/>
    <p:sldId id="361" r:id="rId119"/>
    <p:sldId id="362" r:id="rId120"/>
    <p:sldId id="364" r:id="rId121"/>
    <p:sldId id="365" r:id="rId122"/>
    <p:sldId id="366" r:id="rId1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48" d="100"/>
          <a:sy n="48" d="100"/>
        </p:scale>
        <p:origin x="-1224" y="-6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CE73608-B516-4B0F-8292-536C4FF206AB}" type="datetimeFigureOut">
              <a:rPr lang="en-US" smtClean="0"/>
              <a:pPr/>
              <a:t>4/17/2024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E73608-B516-4B0F-8292-536C4FF206AB}" type="datetimeFigureOut">
              <a:rPr lang="en-US" smtClean="0"/>
              <a:pPr/>
              <a:t>4/17/2024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E73608-B516-4B0F-8292-536C4FF206AB}" type="datetimeFigureOut">
              <a:rPr lang="en-US" smtClean="0"/>
              <a:pPr/>
              <a:t>4/17/2024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CE73608-B516-4B0F-8292-536C4FF206AB}" type="datetimeFigureOut">
              <a:rPr lang="en-US" smtClean="0"/>
              <a:pPr/>
              <a:t>4/17/2024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CE73608-B516-4B0F-8292-536C4FF206AB}" type="datetimeFigureOut">
              <a:rPr lang="en-US" smtClean="0"/>
              <a:pPr/>
              <a:t>4/17/2024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CE73608-B516-4B0F-8292-536C4FF206AB}" type="datetimeFigureOut">
              <a:rPr lang="en-US" smtClean="0"/>
              <a:pPr/>
              <a:t>4/17/2024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E73608-B516-4B0F-8292-536C4FF206AB}" type="datetimeFigureOut">
              <a:rPr lang="en-US" smtClean="0"/>
              <a:pPr/>
              <a:t>4/17/2024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E73608-B516-4B0F-8292-536C4FF206AB}" type="datetimeFigureOut">
              <a:rPr lang="en-US" smtClean="0"/>
              <a:pPr/>
              <a:t>4/17/2024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E73608-B516-4B0F-8292-536C4FF206AB}" type="datetimeFigureOut">
              <a:rPr lang="en-US" smtClean="0"/>
              <a:pPr/>
              <a:t>4/17/2024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E73608-B516-4B0F-8292-536C4FF206AB}" type="datetimeFigureOut">
              <a:rPr lang="en-US" smtClean="0"/>
              <a:pPr/>
              <a:t>4/17/2024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E73608-B516-4B0F-8292-536C4FF206AB}" type="datetimeFigureOut">
              <a:rPr lang="en-US" smtClean="0"/>
              <a:pPr/>
              <a:t>4/17/2024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AF6180-67DA-4B24-8D14-8A46FFB654F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73608-B516-4B0F-8292-536C4FF206AB}" type="datetimeFigureOut">
              <a:rPr lang="en-US" smtClean="0"/>
              <a:pPr/>
              <a:t>4/17/2024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AF6180-67DA-4B24-8D14-8A46FFB654F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IN" sz="7200" b="1" dirty="0" smtClean="0"/>
              <a:t>LAB CRYPTOGRAPHY AND NETWORK SECURITY</a:t>
            </a:r>
            <a:endParaRPr lang="en-IN" sz="72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1143000"/>
          </a:xfrm>
        </p:spPr>
        <p:txBody>
          <a:bodyPr>
            <a:normAutofit/>
          </a:bodyPr>
          <a:lstStyle/>
          <a:p>
            <a:r>
              <a:rPr lang="en-US" sz="6000" b="1" dirty="0" smtClean="0"/>
              <a:t>BASICS OF THE COURSE</a:t>
            </a:r>
            <a:endParaRPr lang="en-IN" sz="6000" b="1" dirty="0"/>
          </a:p>
        </p:txBody>
      </p:sp>
      <p:sp>
        <p:nvSpPr>
          <p:cNvPr id="5" name="Content Placeholder 2"/>
          <p:cNvSpPr>
            <a:spLocks noGrp="1"/>
          </p:cNvSpPr>
          <p:nvPr>
            <p:ph idx="1"/>
          </p:nvPr>
        </p:nvSpPr>
        <p:spPr>
          <a:xfrm>
            <a:off x="457200" y="1600200"/>
            <a:ext cx="8229600" cy="4525963"/>
          </a:xfrm>
        </p:spPr>
        <p:txBody>
          <a:bodyPr>
            <a:normAutofit/>
          </a:bodyPr>
          <a:lstStyle/>
          <a:p>
            <a:r>
              <a:rPr lang="en-US" b="1" dirty="0" smtClean="0"/>
              <a:t>Course Name – </a:t>
            </a:r>
            <a:r>
              <a:rPr lang="en-IN" b="1" dirty="0" smtClean="0"/>
              <a:t>Cryptography And Network Security Lab</a:t>
            </a:r>
            <a:endParaRPr lang="en-US" b="1" dirty="0" smtClean="0"/>
          </a:p>
          <a:p>
            <a:r>
              <a:rPr lang="en-US" b="1" dirty="0" smtClean="0"/>
              <a:t>Course Code – IT 4066</a:t>
            </a:r>
          </a:p>
          <a:p>
            <a:r>
              <a:rPr lang="en-US" b="1" dirty="0" smtClean="0"/>
              <a:t>Schemes - </a:t>
            </a:r>
            <a:endParaRPr lang="en-IN" b="1" dirty="0"/>
          </a:p>
        </p:txBody>
      </p:sp>
      <p:graphicFrame>
        <p:nvGraphicFramePr>
          <p:cNvPr id="6" name="Table 5"/>
          <p:cNvGraphicFramePr>
            <a:graphicFrameLocks noGrp="1"/>
          </p:cNvGraphicFramePr>
          <p:nvPr/>
        </p:nvGraphicFramePr>
        <p:xfrm>
          <a:off x="500034" y="4064504"/>
          <a:ext cx="8358246" cy="1736682"/>
        </p:xfrm>
        <a:graphic>
          <a:graphicData uri="http://schemas.openxmlformats.org/drawingml/2006/table">
            <a:tbl>
              <a:tblPr firstRow="1" bandRow="1">
                <a:tableStyleId>{5C22544A-7EE6-4342-B048-85BDC9FD1C3A}</a:tableStyleId>
              </a:tblPr>
              <a:tblGrid>
                <a:gridCol w="3643338"/>
                <a:gridCol w="4714908"/>
              </a:tblGrid>
              <a:tr h="578894">
                <a:tc>
                  <a:txBody>
                    <a:bodyPr/>
                    <a:lstStyle/>
                    <a:p>
                      <a:r>
                        <a:rPr lang="en-US" sz="2400" b="1" dirty="0" smtClean="0">
                          <a:solidFill>
                            <a:schemeClr val="tx1"/>
                          </a:solidFill>
                        </a:rPr>
                        <a:t>Teaching Scheme</a:t>
                      </a:r>
                      <a:endParaRPr lang="en-IN" sz="24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2400" b="1" dirty="0" smtClean="0">
                          <a:solidFill>
                            <a:schemeClr val="tx1"/>
                          </a:solidFill>
                        </a:rPr>
                        <a:t>Examination Scheme</a:t>
                      </a:r>
                      <a:endParaRPr lang="en-IN" sz="24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578894">
                <a:tc>
                  <a:txBody>
                    <a:bodyPr/>
                    <a:lstStyle/>
                    <a:p>
                      <a:r>
                        <a:rPr lang="en-US" sz="2400" b="1" dirty="0" smtClean="0">
                          <a:solidFill>
                            <a:schemeClr val="tx1"/>
                          </a:solidFill>
                        </a:rPr>
                        <a:t>Practical: 2 Hrs/ Week</a:t>
                      </a:r>
                      <a:endParaRPr lang="en-IN" sz="24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IN" sz="2400" b="1" kern="1200" baseline="0" dirty="0" smtClean="0">
                          <a:solidFill>
                            <a:schemeClr val="tx1"/>
                          </a:solidFill>
                          <a:latin typeface="+mn-lt"/>
                          <a:ea typeface="+mn-ea"/>
                          <a:cs typeface="+mn-cs"/>
                        </a:rPr>
                        <a:t>Term Work : 50 Marks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578894">
                <a:tc>
                  <a:txBody>
                    <a:bodyPr/>
                    <a:lstStyle/>
                    <a:p>
                      <a:r>
                        <a:rPr lang="en-US" sz="2400" b="1" dirty="0" smtClean="0">
                          <a:solidFill>
                            <a:schemeClr val="tx1"/>
                          </a:solidFill>
                        </a:rPr>
                        <a:t>Credits : 1</a:t>
                      </a:r>
                      <a:endParaRPr lang="en-IN" sz="2400" b="1"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b="1" kern="1200" baseline="0" dirty="0" smtClean="0">
                          <a:solidFill>
                            <a:schemeClr val="tx1"/>
                          </a:solidFill>
                          <a:latin typeface="+mn-lt"/>
                          <a:ea typeface="+mn-ea"/>
                          <a:cs typeface="+mn-cs"/>
                        </a:rPr>
                        <a:t>Practical &amp; Viva – Voce : 25 Marks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rmAutofit/>
          </a:bodyPr>
          <a:lstStyle/>
          <a:p>
            <a:r>
              <a:rPr lang="en-IN" b="1" dirty="0" smtClean="0"/>
              <a:t>COURSE OUTCOMES :</a:t>
            </a:r>
          </a:p>
          <a:p>
            <a:r>
              <a:rPr lang="en-IN" b="1" dirty="0" smtClean="0"/>
              <a:t>CO1</a:t>
            </a:r>
            <a:r>
              <a:rPr lang="en-IN" dirty="0" smtClean="0"/>
              <a:t> : Explore the use of Euclid’s algorithm</a:t>
            </a:r>
            <a:endParaRPr lang="en-IN" dirty="0"/>
          </a:p>
          <a:p>
            <a:r>
              <a:rPr lang="en-IN" b="1" dirty="0" smtClean="0"/>
              <a:t>CO2</a:t>
            </a:r>
            <a:r>
              <a:rPr lang="en-IN" dirty="0" smtClean="0"/>
              <a:t> : Identify and formulate computing solution for symmetric key algorithms</a:t>
            </a:r>
            <a:endParaRPr lang="en-IN" dirty="0"/>
          </a:p>
          <a:p>
            <a:r>
              <a:rPr lang="en-IN" b="1" dirty="0" smtClean="0"/>
              <a:t>CO3</a:t>
            </a:r>
            <a:r>
              <a:rPr lang="en-IN" dirty="0" smtClean="0"/>
              <a:t> : Practice RSA and DH algorithm</a:t>
            </a:r>
            <a:endParaRPr lang="en-IN" dirty="0"/>
          </a:p>
          <a:p>
            <a:r>
              <a:rPr lang="en-IN" b="1" dirty="0" smtClean="0"/>
              <a:t>CO4</a:t>
            </a:r>
            <a:r>
              <a:rPr lang="en-IN" dirty="0" smtClean="0"/>
              <a:t> : Analyze the results of frequency of letters program</a:t>
            </a:r>
            <a:endParaRPr lang="en-IN" dirty="0"/>
          </a:p>
          <a:p>
            <a:r>
              <a:rPr lang="en-IN" b="1" dirty="0" smtClean="0"/>
              <a:t>CO5</a:t>
            </a:r>
            <a:r>
              <a:rPr lang="en-IN" dirty="0" smtClean="0"/>
              <a:t> : Summarize different modern tools used for system security</a:t>
            </a:r>
            <a:endParaRPr lang="en-IN" b="1" dirty="0"/>
          </a:p>
        </p:txBody>
      </p:sp>
      <p:sp>
        <p:nvSpPr>
          <p:cNvPr id="4" name="Title 1"/>
          <p:cNvSpPr>
            <a:spLocks noGrp="1"/>
          </p:cNvSpPr>
          <p:nvPr>
            <p:ph type="title"/>
          </p:nvPr>
        </p:nvSpPr>
        <p:spPr/>
        <p:txBody>
          <a:bodyPr>
            <a:normAutofit/>
          </a:bodyPr>
          <a:lstStyle/>
          <a:p>
            <a:r>
              <a:rPr lang="en-US" sz="6000" b="1" dirty="0" smtClean="0"/>
              <a:t>BASICS OF THE COURSE</a:t>
            </a:r>
            <a:endParaRPr lang="en-IN" sz="60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071546"/>
            <a:ext cx="8229600" cy="1143000"/>
          </a:xfrm>
        </p:spPr>
        <p:txBody>
          <a:bodyPr>
            <a:normAutofit/>
          </a:bodyPr>
          <a:lstStyle/>
          <a:p>
            <a:r>
              <a:rPr lang="en-US" sz="6000" b="1" dirty="0" smtClean="0"/>
              <a:t>PRACTICAL NO : 01</a:t>
            </a:r>
            <a:endParaRPr lang="en-IN" sz="6000" b="1" dirty="0"/>
          </a:p>
        </p:txBody>
      </p:sp>
      <p:sp>
        <p:nvSpPr>
          <p:cNvPr id="3" name="Content Placeholder 2"/>
          <p:cNvSpPr>
            <a:spLocks noGrp="1"/>
          </p:cNvSpPr>
          <p:nvPr>
            <p:ph idx="1"/>
          </p:nvPr>
        </p:nvSpPr>
        <p:spPr>
          <a:xfrm>
            <a:off x="357158" y="2928934"/>
            <a:ext cx="8229600" cy="2428892"/>
          </a:xfrm>
        </p:spPr>
        <p:txBody>
          <a:bodyPr anchor="ctr">
            <a:noAutofit/>
          </a:bodyPr>
          <a:lstStyle/>
          <a:p>
            <a:pPr algn="ctr">
              <a:buNone/>
            </a:pPr>
            <a:r>
              <a:rPr lang="en-IN" sz="4800" b="1" dirty="0" smtClean="0"/>
              <a:t>WRITE A PROGRAM FOR IMPLEMENTATION OF EUCLID’S ALGORITHM</a:t>
            </a:r>
            <a:endParaRPr lang="en-IN" sz="48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AIM :</a:t>
            </a:r>
          </a:p>
          <a:p>
            <a:r>
              <a:rPr lang="en-US" dirty="0" smtClean="0"/>
              <a:t>Write a program for implementation of Euclid’s Algorithm</a:t>
            </a:r>
            <a:endParaRPr lang="en-IN" b="1" dirty="0"/>
          </a:p>
        </p:txBody>
      </p:sp>
      <p:sp>
        <p:nvSpPr>
          <p:cNvPr id="4" name="Title 1"/>
          <p:cNvSpPr>
            <a:spLocks noGrp="1"/>
          </p:cNvSpPr>
          <p:nvPr>
            <p:ph type="title"/>
          </p:nvPr>
        </p:nvSpPr>
        <p:spPr/>
        <p:txBody>
          <a:bodyPr>
            <a:normAutofit/>
          </a:bodyPr>
          <a:lstStyle/>
          <a:p>
            <a:r>
              <a:rPr lang="en-US" sz="6000" b="1" dirty="0" smtClean="0"/>
              <a:t>PRACTICAL NO : 01</a:t>
            </a:r>
            <a:endParaRPr lang="en-IN" sz="60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600" b="1" dirty="0" smtClean="0"/>
              <a:t>THEORY</a:t>
            </a:r>
            <a:r>
              <a:rPr lang="en-US" dirty="0" smtClean="0"/>
              <a:t> :</a:t>
            </a:r>
          </a:p>
          <a:p>
            <a:r>
              <a:rPr lang="en-IN" dirty="0" smtClean="0"/>
              <a:t>The Euclidean algorithm is a way to find the greatest common divisor of two positive integers</a:t>
            </a:r>
          </a:p>
          <a:p>
            <a:r>
              <a:rPr lang="en-IN" dirty="0" smtClean="0"/>
              <a:t>GCD of two numbers is the largest number that divides both of them.</a:t>
            </a:r>
          </a:p>
          <a:p>
            <a:r>
              <a:rPr lang="en-IN" dirty="0" smtClean="0"/>
              <a:t>A simple way to find GCD is to factorize both numbers and multiply common prime factors.</a:t>
            </a:r>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a:srcRect/>
          <a:stretch>
            <a:fillRect/>
          </a:stretch>
        </p:blipFill>
        <p:spPr bwMode="auto">
          <a:xfrm>
            <a:off x="671791" y="2285992"/>
            <a:ext cx="7973073" cy="3000396"/>
          </a:xfrm>
          <a:prstGeom prst="rect">
            <a:avLst/>
          </a:prstGeom>
          <a:noFill/>
          <a:ln w="9525">
            <a:noFill/>
            <a:miter lim="800000"/>
            <a:headEnd/>
            <a:tailEnd/>
          </a:ln>
          <a:effectLst/>
        </p:spPr>
      </p:pic>
      <p:sp>
        <p:nvSpPr>
          <p:cNvPr id="6"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b="1" dirty="0" smtClean="0"/>
              <a:t>Basic Euclidean Algorithm for GCD: </a:t>
            </a:r>
          </a:p>
          <a:p>
            <a:pPr fontAlgn="base"/>
            <a:r>
              <a:rPr lang="en-IN" dirty="0" smtClean="0"/>
              <a:t>The algorithm is based on the below facts. </a:t>
            </a:r>
          </a:p>
          <a:p>
            <a:pPr fontAlgn="base"/>
            <a:r>
              <a:rPr lang="en-IN" dirty="0" smtClean="0"/>
              <a:t>If we subtract a smaller number from a larger one (we reduce a larger number), GCD doesn’t change. So if we keep subtracting repeatedly the larger of two, we end up with GCD.</a:t>
            </a:r>
          </a:p>
          <a:p>
            <a:pPr fontAlgn="base"/>
            <a:r>
              <a:rPr lang="en-IN" dirty="0" smtClean="0"/>
              <a:t>Now instead of subtraction, if we divide the smaller number, the algorithm stops when we find the remainder 0.</a:t>
            </a:r>
          </a:p>
          <a:p>
            <a:pPr fontAlgn="base"/>
            <a:endParaRPr lang="en-IN" dirty="0" smtClean="0"/>
          </a:p>
          <a:p>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043510"/>
          </a:xfrm>
        </p:spPr>
        <p:txBody>
          <a:bodyPr>
            <a:noAutofit/>
          </a:bodyPr>
          <a:lstStyle/>
          <a:p>
            <a:pPr lvl="0"/>
            <a:r>
              <a:rPr lang="en-US" sz="2600" dirty="0" smtClean="0"/>
              <a:t>In mathematics, the Euclidean algorithm or Euclid's algorithm is an efficient method for computing the greatest common divisor (GCD) of two numbers, the largest number that divides both of them without leaving a remainder. </a:t>
            </a:r>
            <a:endParaRPr lang="en-IN" sz="2600" b="1" dirty="0" smtClean="0"/>
          </a:p>
          <a:p>
            <a:pPr lvl="0"/>
            <a:r>
              <a:rPr lang="en-US" sz="2600" dirty="0" smtClean="0"/>
              <a:t>The Euclidean algorithm calculates the greatest common divisor (GCD) of two natural numbers a and b. The greatest common divisor g is the largest natural number that divides both a and b without leaving a remainder. </a:t>
            </a:r>
            <a:endParaRPr lang="en-IN" sz="2600" dirty="0" smtClean="0"/>
          </a:p>
          <a:p>
            <a:pPr lvl="0"/>
            <a:r>
              <a:rPr lang="en-US" sz="2600" dirty="0" smtClean="0"/>
              <a:t>If </a:t>
            </a:r>
            <a:r>
              <a:rPr lang="en-US" sz="2600" dirty="0" err="1" smtClean="0"/>
              <a:t>gcd</a:t>
            </a:r>
            <a:r>
              <a:rPr lang="en-US" sz="2600" dirty="0" smtClean="0"/>
              <a:t>(a, b) = 1, then a and b are said to be coprime (or relatively prime). This property does not imply that a or b are themselves prime numbers. </a:t>
            </a:r>
            <a:endParaRPr lang="en-IN" sz="2600" dirty="0" smtClean="0"/>
          </a:p>
          <a:p>
            <a:endParaRPr lang="en-IN"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7" name="Picture 1"/>
          <p:cNvPicPr>
            <a:picLocks noChangeAspect="1" noChangeArrowheads="1"/>
          </p:cNvPicPr>
          <p:nvPr/>
        </p:nvPicPr>
        <p:blipFill>
          <a:blip r:embed="rId2"/>
          <a:srcRect/>
          <a:stretch>
            <a:fillRect/>
          </a:stretch>
        </p:blipFill>
        <p:spPr bwMode="auto">
          <a:xfrm>
            <a:off x="2591618" y="2143116"/>
            <a:ext cx="2415350" cy="309087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smtClean="0"/>
              <a:t>Algorithm</a:t>
            </a:r>
            <a:r>
              <a:rPr lang="en-US" dirty="0" smtClean="0"/>
              <a:t>: </a:t>
            </a:r>
            <a:endParaRPr lang="en-IN" dirty="0" smtClean="0"/>
          </a:p>
          <a:p>
            <a:r>
              <a:rPr lang="en-US" b="1" dirty="0" smtClean="0"/>
              <a:t>Input</a:t>
            </a:r>
            <a:r>
              <a:rPr lang="en-US" dirty="0" smtClean="0"/>
              <a:t> Two positive integers, a and b. </a:t>
            </a:r>
            <a:endParaRPr lang="en-IN" dirty="0" smtClean="0"/>
          </a:p>
          <a:p>
            <a:r>
              <a:rPr lang="en-US" b="1" dirty="0" smtClean="0"/>
              <a:t>Output</a:t>
            </a:r>
            <a:r>
              <a:rPr lang="en-US" dirty="0" smtClean="0"/>
              <a:t> The greatest common divisor, g, of a and b. </a:t>
            </a:r>
            <a:endParaRPr lang="en-IN" dirty="0" smtClean="0"/>
          </a:p>
          <a:p>
            <a:r>
              <a:rPr lang="en-US" b="1" dirty="0" smtClean="0"/>
              <a:t>Internal computation</a:t>
            </a:r>
            <a:endParaRPr lang="en-IN" dirty="0" smtClean="0"/>
          </a:p>
          <a:p>
            <a:r>
              <a:rPr lang="en-US" b="1" i="1" dirty="0" smtClean="0"/>
              <a:t>EUCLID(a, b)</a:t>
            </a:r>
            <a:endParaRPr lang="en-IN" dirty="0" smtClean="0"/>
          </a:p>
          <a:p>
            <a:r>
              <a:rPr lang="en-US" b="1" i="1" dirty="0" smtClean="0"/>
              <a:t>1. A</a:t>
            </a:r>
            <a:r>
              <a:rPr lang="en-US" b="1" i="1" dirty="0" smtClean="0">
                <a:sym typeface="Wingdings"/>
              </a:rPr>
              <a:t></a:t>
            </a:r>
            <a:r>
              <a:rPr lang="en-US" b="1" i="1" dirty="0" smtClean="0"/>
              <a:t>   a; B</a:t>
            </a:r>
            <a:r>
              <a:rPr lang="en-US" b="1" i="1" dirty="0" smtClean="0">
                <a:sym typeface="Wingdings"/>
              </a:rPr>
              <a:t></a:t>
            </a:r>
            <a:r>
              <a:rPr lang="en-US" b="1" i="1" dirty="0" smtClean="0"/>
              <a:t> b</a:t>
            </a:r>
            <a:endParaRPr lang="en-IN" dirty="0" smtClean="0"/>
          </a:p>
          <a:p>
            <a:r>
              <a:rPr lang="en-US" b="1" i="1" dirty="0" smtClean="0"/>
              <a:t>2. if B = 0 return A = </a:t>
            </a:r>
            <a:r>
              <a:rPr lang="en-US" b="1" i="1" dirty="0" err="1" smtClean="0"/>
              <a:t>gcd</a:t>
            </a:r>
            <a:r>
              <a:rPr lang="en-US" b="1" i="1" dirty="0" smtClean="0"/>
              <a:t>(a, b)</a:t>
            </a:r>
            <a:endParaRPr lang="en-IN" dirty="0" smtClean="0"/>
          </a:p>
          <a:p>
            <a:r>
              <a:rPr lang="en-US" b="1" i="1" dirty="0" smtClean="0"/>
              <a:t>3. R = A mod B</a:t>
            </a:r>
            <a:endParaRPr lang="en-IN" dirty="0" smtClean="0"/>
          </a:p>
          <a:p>
            <a:r>
              <a:rPr lang="en-US" b="1" i="1" dirty="0" smtClean="0"/>
              <a:t>4. A</a:t>
            </a:r>
            <a:r>
              <a:rPr lang="en-US" b="1" i="1" dirty="0" smtClean="0">
                <a:sym typeface="Wingdings"/>
              </a:rPr>
              <a:t></a:t>
            </a:r>
            <a:r>
              <a:rPr lang="en-US" b="1" i="1" dirty="0" smtClean="0"/>
              <a:t> B</a:t>
            </a:r>
            <a:endParaRPr lang="en-IN" dirty="0" smtClean="0"/>
          </a:p>
          <a:p>
            <a:r>
              <a:rPr lang="en-US" b="1" i="1" dirty="0" smtClean="0"/>
              <a:t>5. B</a:t>
            </a:r>
            <a:r>
              <a:rPr lang="en-US" b="1" i="1" dirty="0" smtClean="0">
                <a:sym typeface="Wingdings"/>
              </a:rPr>
              <a:t></a:t>
            </a:r>
            <a:r>
              <a:rPr lang="en-US" b="1" i="1" dirty="0" smtClean="0"/>
              <a:t> R</a:t>
            </a:r>
            <a:endParaRPr lang="en-IN" dirty="0" smtClean="0"/>
          </a:p>
          <a:p>
            <a:r>
              <a:rPr lang="en-US" b="1" i="1" dirty="0" smtClean="0"/>
              <a:t>6. </a:t>
            </a:r>
            <a:r>
              <a:rPr lang="en-US" b="1" i="1" dirty="0" err="1" smtClean="0"/>
              <a:t>goto</a:t>
            </a:r>
            <a:r>
              <a:rPr lang="en-US" b="1" i="1" dirty="0" smtClean="0"/>
              <a:t> 2</a:t>
            </a:r>
            <a:endParaRPr lang="en-IN" dirty="0" smtClean="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Below is a recursive function to evaluate </a:t>
            </a:r>
            <a:r>
              <a:rPr lang="en-IN" dirty="0" err="1" smtClean="0"/>
              <a:t>gcd</a:t>
            </a:r>
            <a:r>
              <a:rPr lang="en-IN" dirty="0" smtClean="0"/>
              <a:t> using Euclid’s algorithm:</a:t>
            </a:r>
          </a:p>
          <a:p>
            <a:pPr>
              <a:buNone/>
            </a:pPr>
            <a:r>
              <a:rPr lang="en-IN" dirty="0" smtClean="0"/>
              <a:t>// C program to demonstrate Basic Euclidean Algorithm</a:t>
            </a:r>
          </a:p>
          <a:p>
            <a:pPr>
              <a:buNone/>
            </a:pPr>
            <a:r>
              <a:rPr lang="en-IN" dirty="0" smtClean="0"/>
              <a:t>#include &lt;</a:t>
            </a:r>
            <a:r>
              <a:rPr lang="en-IN" dirty="0" err="1" smtClean="0"/>
              <a:t>stdio.h</a:t>
            </a:r>
            <a:r>
              <a:rPr lang="en-IN" dirty="0" smtClean="0"/>
              <a:t>&gt;</a:t>
            </a:r>
          </a:p>
          <a:p>
            <a:pPr>
              <a:buNone/>
            </a:pPr>
            <a:endParaRPr lang="en-US" dirty="0" smtClean="0"/>
          </a:p>
          <a:p>
            <a:pPr>
              <a:buNone/>
            </a:pPr>
            <a:r>
              <a:rPr lang="en-IN" dirty="0" smtClean="0"/>
              <a:t>// Function to return </a:t>
            </a:r>
            <a:r>
              <a:rPr lang="en-IN" dirty="0" err="1" smtClean="0"/>
              <a:t>gcd</a:t>
            </a:r>
            <a:r>
              <a:rPr lang="en-IN" dirty="0" smtClean="0"/>
              <a:t> of a and b</a:t>
            </a:r>
          </a:p>
          <a:p>
            <a:pPr>
              <a:buNone/>
            </a:pPr>
            <a:r>
              <a:rPr lang="en-IN" dirty="0" err="1" smtClean="0"/>
              <a:t>int</a:t>
            </a:r>
            <a:r>
              <a:rPr lang="en-IN" dirty="0" smtClean="0"/>
              <a:t> </a:t>
            </a:r>
            <a:r>
              <a:rPr lang="en-IN" dirty="0" err="1" smtClean="0"/>
              <a:t>gcd</a:t>
            </a:r>
            <a:r>
              <a:rPr lang="en-IN" dirty="0" smtClean="0"/>
              <a:t>(</a:t>
            </a:r>
            <a:r>
              <a:rPr lang="en-IN" dirty="0" err="1" smtClean="0"/>
              <a:t>int</a:t>
            </a:r>
            <a:r>
              <a:rPr lang="en-IN" dirty="0" smtClean="0"/>
              <a:t> a, </a:t>
            </a:r>
            <a:r>
              <a:rPr lang="en-IN" dirty="0" err="1" smtClean="0"/>
              <a:t>int</a:t>
            </a:r>
            <a:r>
              <a:rPr lang="en-IN" dirty="0" smtClean="0"/>
              <a:t> b)</a:t>
            </a:r>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a:t>
            </a:r>
          </a:p>
          <a:p>
            <a:pPr fontAlgn="base">
              <a:buNone/>
            </a:pPr>
            <a:r>
              <a:rPr lang="en-IN" dirty="0" smtClean="0"/>
              <a:t>    if (a == 0)</a:t>
            </a:r>
          </a:p>
          <a:p>
            <a:pPr fontAlgn="base">
              <a:buNone/>
            </a:pPr>
            <a:r>
              <a:rPr lang="en-IN" dirty="0" smtClean="0"/>
              <a:t>        return b;</a:t>
            </a:r>
          </a:p>
          <a:p>
            <a:pPr fontAlgn="base">
              <a:buNone/>
            </a:pPr>
            <a:r>
              <a:rPr lang="en-IN" dirty="0" smtClean="0"/>
              <a:t>    return </a:t>
            </a:r>
            <a:r>
              <a:rPr lang="en-IN" dirty="0" err="1" smtClean="0"/>
              <a:t>gcd</a:t>
            </a:r>
            <a:r>
              <a:rPr lang="en-IN" dirty="0" smtClean="0"/>
              <a:t>(b % a, a);</a:t>
            </a:r>
          </a:p>
          <a:p>
            <a:pPr fontAlgn="base">
              <a:buNone/>
            </a:pPr>
            <a:r>
              <a:rPr lang="en-IN" dirty="0" smtClean="0"/>
              <a:t>}</a:t>
            </a:r>
          </a:p>
          <a:p>
            <a:pPr fontAlgn="base">
              <a:buNone/>
            </a:pPr>
            <a:r>
              <a:rPr lang="en-IN" dirty="0" smtClean="0"/>
              <a:t>// Driver code</a:t>
            </a:r>
          </a:p>
          <a:p>
            <a:pPr fontAlgn="base">
              <a:buNone/>
            </a:pPr>
            <a:r>
              <a:rPr lang="en-IN" dirty="0" err="1" smtClean="0"/>
              <a:t>int</a:t>
            </a:r>
            <a:r>
              <a:rPr lang="en-IN" dirty="0" smtClean="0"/>
              <a:t> main()</a:t>
            </a:r>
          </a:p>
          <a:p>
            <a:pPr>
              <a:buNone/>
            </a:pPr>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fontAlgn="base">
              <a:buNone/>
            </a:pPr>
            <a:r>
              <a:rPr lang="en-IN" dirty="0" smtClean="0"/>
              <a:t>{</a:t>
            </a:r>
          </a:p>
          <a:p>
            <a:pPr fontAlgn="base">
              <a:buNone/>
            </a:pPr>
            <a:r>
              <a:rPr lang="en-IN" dirty="0" smtClean="0"/>
              <a:t>    </a:t>
            </a:r>
            <a:r>
              <a:rPr lang="en-IN" dirty="0" err="1" smtClean="0"/>
              <a:t>int</a:t>
            </a:r>
            <a:r>
              <a:rPr lang="en-IN" dirty="0" smtClean="0"/>
              <a:t> a = 10, b = 15;</a:t>
            </a:r>
          </a:p>
          <a:p>
            <a:pPr fontAlgn="base">
              <a:buNone/>
            </a:pPr>
            <a:r>
              <a:rPr lang="en-IN" dirty="0" smtClean="0"/>
              <a:t>	// Function call</a:t>
            </a:r>
          </a:p>
          <a:p>
            <a:pPr fontAlgn="base">
              <a:buNone/>
            </a:pPr>
            <a:r>
              <a:rPr lang="pt-BR" dirty="0" smtClean="0"/>
              <a:t>printf("GCD(%d, %d) = %d\n", a, b, gcd(a, b));</a:t>
            </a:r>
          </a:p>
          <a:p>
            <a:pPr fontAlgn="base">
              <a:buNone/>
            </a:pPr>
            <a:r>
              <a:rPr lang="pt-BR" dirty="0" smtClean="0"/>
              <a:t>    a = 35, b = 10;</a:t>
            </a:r>
          </a:p>
          <a:p>
            <a:pPr fontAlgn="base">
              <a:buNone/>
            </a:pPr>
            <a:r>
              <a:rPr lang="pt-BR" dirty="0" smtClean="0"/>
              <a:t>    printf("GCD(%d, %d) = %d\n", a, b, gcd(a, b));</a:t>
            </a:r>
          </a:p>
          <a:p>
            <a:pPr fontAlgn="base">
              <a:buNone/>
            </a:pPr>
            <a:r>
              <a:rPr lang="pt-BR" dirty="0" smtClean="0"/>
              <a:t>    a = 31, b = 2;</a:t>
            </a:r>
          </a:p>
          <a:p>
            <a:pPr fontAlgn="base">
              <a:buNone/>
            </a:pPr>
            <a:r>
              <a:rPr lang="pt-BR" dirty="0" smtClean="0"/>
              <a:t>    printf("GCD(%d, %d) = %d\n", a, b, gcd(a, b));</a:t>
            </a:r>
          </a:p>
          <a:p>
            <a:pPr fontAlgn="base">
              <a:buNone/>
            </a:pPr>
            <a:r>
              <a:rPr lang="pt-BR" dirty="0" smtClean="0"/>
              <a:t>    return 0;</a:t>
            </a:r>
          </a:p>
          <a:p>
            <a:pPr fontAlgn="base">
              <a:buNone/>
            </a:pPr>
            <a:r>
              <a:rPr lang="en-IN" dirty="0" smtClean="0"/>
              <a:t>}</a:t>
            </a:r>
            <a:endParaRPr lang="pt-BR" dirty="0" smtClean="0"/>
          </a:p>
          <a:p>
            <a:pPr>
              <a:buNone/>
            </a:pPr>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smtClean="0"/>
              <a:t>Output : </a:t>
            </a:r>
          </a:p>
          <a:p>
            <a:pPr>
              <a:buNone/>
            </a:pPr>
            <a:r>
              <a:rPr lang="en-IN" dirty="0" smtClean="0"/>
              <a:t>GCD(10, 15) = 5 </a:t>
            </a:r>
          </a:p>
          <a:p>
            <a:pPr>
              <a:buNone/>
            </a:pPr>
            <a:r>
              <a:rPr lang="en-IN" dirty="0" smtClean="0"/>
              <a:t>GCD(35, 10) = 5 </a:t>
            </a:r>
          </a:p>
          <a:p>
            <a:pPr>
              <a:buNone/>
            </a:pPr>
            <a:r>
              <a:rPr lang="en-IN" dirty="0" smtClean="0"/>
              <a:t>GCD(31, 2) = 1</a:t>
            </a:r>
            <a:endParaRPr lang="en-IN" dirty="0"/>
          </a:p>
        </p:txBody>
      </p:sp>
      <p:sp>
        <p:nvSpPr>
          <p:cNvPr id="4" name="Title 1"/>
          <p:cNvSpPr>
            <a:spLocks noGrp="1"/>
          </p:cNvSpPr>
          <p:nvPr>
            <p:ph type="title"/>
          </p:nvPr>
        </p:nvSpPr>
        <p:spPr/>
        <p:txBody>
          <a:bodyPr/>
          <a:lstStyle/>
          <a:p>
            <a:r>
              <a:rPr lang="en-US" b="1" dirty="0" smtClean="0"/>
              <a:t>PRACTICAL NO : 01</a:t>
            </a:r>
            <a:endParaRPr lang="en-IN"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smtClean="0"/>
              <a:t>PRACTICAL NO : 02</a:t>
            </a:r>
            <a:endParaRPr lang="en-IN" sz="4800" dirty="0"/>
          </a:p>
        </p:txBody>
      </p:sp>
      <p:sp>
        <p:nvSpPr>
          <p:cNvPr id="3" name="Content Placeholder 2"/>
          <p:cNvSpPr>
            <a:spLocks noGrp="1"/>
          </p:cNvSpPr>
          <p:nvPr>
            <p:ph idx="1"/>
          </p:nvPr>
        </p:nvSpPr>
        <p:spPr>
          <a:xfrm>
            <a:off x="500034" y="2000240"/>
            <a:ext cx="8229600" cy="3143271"/>
          </a:xfrm>
        </p:spPr>
        <p:txBody>
          <a:bodyPr>
            <a:normAutofit/>
          </a:bodyPr>
          <a:lstStyle/>
          <a:p>
            <a:pPr>
              <a:buNone/>
            </a:pPr>
            <a:r>
              <a:rPr lang="en-IN" sz="4000" b="1" dirty="0" smtClean="0"/>
              <a:t>Demonstrate Caesar Cipher with the help of a program</a:t>
            </a:r>
          </a:p>
          <a:p>
            <a:pPr marL="514350" indent="-514350">
              <a:buAutoNum type="alphaUcPeriod"/>
            </a:pPr>
            <a:r>
              <a:rPr lang="en-IN" sz="4000" b="1" dirty="0" smtClean="0"/>
              <a:t>Sender’s Side(Encryption) </a:t>
            </a:r>
          </a:p>
          <a:p>
            <a:pPr marL="514350" indent="-514350">
              <a:buAutoNum type="alphaUcPeriod"/>
            </a:pPr>
            <a:r>
              <a:rPr lang="en-IN" sz="4000" b="1" dirty="0" smtClean="0"/>
              <a:t>Receiver’s Side(Decryption)</a:t>
            </a:r>
            <a:endParaRPr lang="en-IN" sz="4000"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3116"/>
            <a:ext cx="8229600" cy="1143000"/>
          </a:xfrm>
        </p:spPr>
        <p:txBody>
          <a:bodyPr>
            <a:normAutofit/>
          </a:bodyPr>
          <a:lstStyle/>
          <a:p>
            <a:r>
              <a:rPr lang="en-US" sz="4800" b="1" dirty="0" smtClean="0"/>
              <a:t>PRACTICAL NO : 02 (A)</a:t>
            </a:r>
            <a:endParaRPr lang="en-IN" sz="4800" dirty="0"/>
          </a:p>
        </p:txBody>
      </p:sp>
      <p:sp>
        <p:nvSpPr>
          <p:cNvPr id="3" name="Content Placeholder 2"/>
          <p:cNvSpPr>
            <a:spLocks noGrp="1"/>
          </p:cNvSpPr>
          <p:nvPr>
            <p:ph idx="1"/>
          </p:nvPr>
        </p:nvSpPr>
        <p:spPr>
          <a:xfrm>
            <a:off x="500034" y="3500438"/>
            <a:ext cx="8229600" cy="2114552"/>
          </a:xfrm>
        </p:spPr>
        <p:txBody>
          <a:bodyPr>
            <a:normAutofit/>
          </a:bodyPr>
          <a:lstStyle/>
          <a:p>
            <a:pPr algn="ctr">
              <a:buNone/>
            </a:pPr>
            <a:r>
              <a:rPr lang="en-IN" sz="4000" b="1" dirty="0" smtClean="0"/>
              <a:t>Demonstrate Caesar Cipher with the help of a program for Sender’s Side(Encryption) </a:t>
            </a:r>
          </a:p>
          <a:p>
            <a:pPr algn="ctr">
              <a:buNone/>
            </a:pPr>
            <a:endParaRPr lang="en-IN" sz="4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736"/>
            <a:ext cx="8229600" cy="5257800"/>
          </a:xfrm>
        </p:spPr>
        <p:txBody>
          <a:bodyPr>
            <a:noAutofit/>
          </a:bodyPr>
          <a:lstStyle/>
          <a:p>
            <a:r>
              <a:rPr lang="en-IN" sz="3600" dirty="0" smtClean="0"/>
              <a:t>The Caesar cipher is a simple encryption technique that was used by Julius Caesar to send secret messages to his allies. </a:t>
            </a:r>
          </a:p>
          <a:p>
            <a:r>
              <a:rPr lang="en-IN" sz="3600" dirty="0" smtClean="0"/>
              <a:t>It works by shifting the letters in the plaintext message by a certain number of positions, known as the “shift” or “key”.</a:t>
            </a:r>
          </a:p>
          <a:p>
            <a:r>
              <a:rPr lang="en-IN" sz="3600" dirty="0" smtClean="0"/>
              <a:t>The Caesar Cipher technique is one of the earliest and simplest methods of encryption technique.</a:t>
            </a:r>
          </a:p>
          <a:p>
            <a:endParaRPr lang="en-IN" sz="3600" dirty="0" smtClean="0"/>
          </a:p>
          <a:p>
            <a:endParaRPr lang="en-IN" sz="3600"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Autofit/>
          </a:bodyPr>
          <a:lstStyle/>
          <a:p>
            <a:r>
              <a:rPr lang="en-IN" sz="3300" dirty="0" smtClean="0"/>
              <a:t>It’s simply a type of substitution cipher, i.e., each letter of a given text is replaced by a letter with a fixed number of positions down the alphabet. </a:t>
            </a:r>
          </a:p>
          <a:p>
            <a:r>
              <a:rPr lang="en-IN" sz="3300" dirty="0" smtClean="0"/>
              <a:t>For example with a shift of 1, A would be replaced by B, B would become C, and so on. </a:t>
            </a:r>
          </a:p>
          <a:p>
            <a:r>
              <a:rPr lang="en-IN" sz="3300" dirty="0" smtClean="0"/>
              <a:t>The method is apparently named after Julius Caesar, who apparently used it to communicate with his officials.</a:t>
            </a:r>
          </a:p>
          <a:p>
            <a:endParaRPr lang="en-IN" sz="3300"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22"/>
            <a:ext cx="8229600" cy="5429288"/>
          </a:xfrm>
        </p:spPr>
        <p:txBody>
          <a:bodyPr>
            <a:normAutofit/>
          </a:bodyPr>
          <a:lstStyle/>
          <a:p>
            <a:r>
              <a:rPr lang="en-IN" dirty="0" smtClean="0"/>
              <a:t>Thus to cipher a given text we need an integer value, known as a shift which indicates the number of positions each letter of the text has been moved down. </a:t>
            </a:r>
          </a:p>
          <a:p>
            <a:r>
              <a:rPr lang="en-IN" dirty="0" smtClean="0"/>
              <a:t>The encryption can be represented using modular arithmetic by first transforming the letters into numbers, according to the scheme, A = 0, B = 1,…, Z = 25. </a:t>
            </a:r>
          </a:p>
          <a:p>
            <a:r>
              <a:rPr lang="en-IN" dirty="0" smtClean="0"/>
              <a:t>Encryption of a letter by a shift n can be described mathematically as. </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For example, if the shift is 3, then the letter A would be replaced by the letter D, B would become E, C would become F, and so on. </a:t>
            </a:r>
          </a:p>
          <a:p>
            <a:r>
              <a:rPr lang="en-IN" dirty="0" smtClean="0"/>
              <a:t>The alphabet is wrapped around so that after Z, it starts back at A.</a:t>
            </a:r>
          </a:p>
          <a:p>
            <a:r>
              <a:rPr lang="en-IN" dirty="0" smtClean="0"/>
              <a:t>Here is an example of how to use the Caesar cipher to encrypt the message “HELLO” with a shift of 3:</a:t>
            </a:r>
          </a:p>
          <a:p>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928670"/>
            <a:ext cx="8229600" cy="5786454"/>
          </a:xfrm>
        </p:spPr>
        <p:txBody>
          <a:bodyPr>
            <a:noAutofit/>
          </a:bodyPr>
          <a:lstStyle/>
          <a:p>
            <a:pPr marL="514350" indent="-514350">
              <a:buAutoNum type="arabicPeriod"/>
            </a:pPr>
            <a:r>
              <a:rPr lang="en-IN" sz="2750" dirty="0" smtClean="0"/>
              <a:t>Write down the plaintext message: HELLO</a:t>
            </a:r>
          </a:p>
          <a:p>
            <a:pPr marL="514350" indent="-514350">
              <a:buFont typeface="Arial" pitchFamily="34" charset="0"/>
              <a:buAutoNum type="arabicPeriod"/>
            </a:pPr>
            <a:r>
              <a:rPr lang="en-IN" sz="2750" dirty="0" smtClean="0"/>
              <a:t>Choose a shift value. In this case, we will use a shift of 3.</a:t>
            </a:r>
          </a:p>
          <a:p>
            <a:pPr marL="514350" indent="-514350">
              <a:buFont typeface="Arial" pitchFamily="34" charset="0"/>
              <a:buAutoNum type="arabicPeriod"/>
            </a:pPr>
            <a:r>
              <a:rPr lang="en-IN" sz="2750" dirty="0" smtClean="0"/>
              <a:t>Replace each letter in the plaintext message with the letter that is three positions to the right in the alphabet.</a:t>
            </a:r>
          </a:p>
          <a:p>
            <a:pPr marL="1071563" indent="-1071563" fontAlgn="base"/>
            <a:r>
              <a:rPr lang="en-IN" sz="2750" dirty="0" smtClean="0"/>
              <a:t>H becomes K (shift 3 from H)</a:t>
            </a:r>
          </a:p>
          <a:p>
            <a:pPr fontAlgn="base"/>
            <a:r>
              <a:rPr lang="en-IN" sz="2750" dirty="0" smtClean="0"/>
              <a:t>         E becomes H (shift 3 from E)</a:t>
            </a:r>
          </a:p>
          <a:p>
            <a:pPr fontAlgn="base"/>
            <a:r>
              <a:rPr lang="en-IN" sz="2750" dirty="0" smtClean="0"/>
              <a:t>         L becomes O (shift 3 from L)</a:t>
            </a:r>
          </a:p>
          <a:p>
            <a:pPr fontAlgn="base"/>
            <a:r>
              <a:rPr lang="en-IN" sz="2750" dirty="0" smtClean="0"/>
              <a:t>         L becomes O (shift 3 from L)</a:t>
            </a:r>
          </a:p>
          <a:p>
            <a:pPr marL="993775" indent="-993775" fontAlgn="base"/>
            <a:r>
              <a:rPr lang="en-IN" sz="2750" dirty="0" smtClean="0"/>
              <a:t>O becomes R (shift 3 from O)</a:t>
            </a:r>
          </a:p>
          <a:p>
            <a:pPr fontAlgn="base">
              <a:buNone/>
            </a:pPr>
            <a:r>
              <a:rPr lang="en-IN" sz="2750" dirty="0" smtClean="0"/>
              <a:t>4. The encrypted message is now “KHOOR”.  </a:t>
            </a:r>
            <a:endParaRPr lang="en-IN" sz="2750" b="1" dirty="0" smtClean="0"/>
          </a:p>
          <a:p>
            <a:pPr fontAlgn="base"/>
            <a:endParaRPr lang="en-IN" sz="2750" dirty="0" smtClean="0"/>
          </a:p>
          <a:p>
            <a:pPr marL="514350" indent="-514350">
              <a:buAutoNum type="arabicPeriod"/>
            </a:pPr>
            <a:endParaRPr lang="en-IN" sz="2750" dirty="0" smtClean="0"/>
          </a:p>
          <a:p>
            <a:pPr>
              <a:buNone/>
            </a:pPr>
            <a:endParaRPr lang="en-IN" sz="2750" dirty="0"/>
          </a:p>
        </p:txBody>
      </p:sp>
      <p:sp>
        <p:nvSpPr>
          <p:cNvPr id="4" name="Title 1"/>
          <p:cNvSpPr>
            <a:spLocks noGrp="1"/>
          </p:cNvSpPr>
          <p:nvPr>
            <p:ph type="title"/>
          </p:nvPr>
        </p:nvSpPr>
        <p:spPr>
          <a:xfrm>
            <a:off x="500034" y="0"/>
            <a:ext cx="8229600" cy="1143000"/>
          </a:xfrm>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0"/>
            <a:ext cx="9144000" cy="6500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357289" y="1600978"/>
            <a:ext cx="6861437" cy="4828418"/>
          </a:xfrm>
          <a:prstGeom prst="rect">
            <a:avLst/>
          </a:prstGeom>
          <a:noFill/>
          <a:ln w="9525">
            <a:noFill/>
            <a:miter lim="800000"/>
            <a:headEnd/>
            <a:tailEnd/>
          </a:ln>
          <a:effectLst/>
        </p:spPr>
      </p:pic>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736"/>
            <a:ext cx="8229600" cy="5214974"/>
          </a:xfrm>
        </p:spPr>
        <p:txBody>
          <a:bodyPr>
            <a:normAutofit fontScale="92500" lnSpcReduction="10000"/>
          </a:bodyPr>
          <a:lstStyle/>
          <a:p>
            <a:pPr fontAlgn="base"/>
            <a:r>
              <a:rPr lang="en-IN" b="1" dirty="0" smtClean="0"/>
              <a:t>Advantages:</a:t>
            </a:r>
          </a:p>
          <a:p>
            <a:pPr fontAlgn="base"/>
            <a:r>
              <a:rPr lang="en-IN" dirty="0" smtClean="0"/>
              <a:t>Easy to implement and use thus, making suitable for beginners to learn about encryption.</a:t>
            </a:r>
          </a:p>
          <a:p>
            <a:pPr fontAlgn="base"/>
            <a:r>
              <a:rPr lang="en-IN" dirty="0" smtClean="0"/>
              <a:t>Can be physically implemented, such as with a set of rotating disks or a set of cards, known as a </a:t>
            </a:r>
            <a:r>
              <a:rPr lang="en-IN" dirty="0" err="1" smtClean="0"/>
              <a:t>scytale</a:t>
            </a:r>
            <a:r>
              <a:rPr lang="en-IN" dirty="0" smtClean="0"/>
              <a:t>, which can be useful in certain situations.</a:t>
            </a:r>
          </a:p>
          <a:p>
            <a:pPr fontAlgn="base"/>
            <a:r>
              <a:rPr lang="en-IN" dirty="0" smtClean="0"/>
              <a:t>Requires only a small set of pre-shared information.</a:t>
            </a:r>
          </a:p>
          <a:p>
            <a:pPr fontAlgn="base"/>
            <a:r>
              <a:rPr lang="en-IN" dirty="0" smtClean="0"/>
              <a:t>Can be modified easily to create a more secure variant, such as by using a multiple shift values or keywords.</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7298"/>
            <a:ext cx="8229600" cy="5286412"/>
          </a:xfrm>
        </p:spPr>
        <p:txBody>
          <a:bodyPr>
            <a:noAutofit/>
          </a:bodyPr>
          <a:lstStyle/>
          <a:p>
            <a:pPr fontAlgn="base"/>
            <a:r>
              <a:rPr lang="en-IN" sz="3050" b="1" dirty="0" smtClean="0"/>
              <a:t>Disadvantages:</a:t>
            </a:r>
          </a:p>
          <a:p>
            <a:pPr fontAlgn="base"/>
            <a:r>
              <a:rPr lang="en-IN" sz="3050" dirty="0" smtClean="0"/>
              <a:t>It is not secure against modern decryption methods.</a:t>
            </a:r>
          </a:p>
          <a:p>
            <a:pPr fontAlgn="base"/>
            <a:r>
              <a:rPr lang="en-IN" sz="3050" dirty="0" smtClean="0"/>
              <a:t>Vulnerable to known-plaintext attacks, where an attacker has access to both the encrypted and unencrypted versions of the same messages.</a:t>
            </a:r>
          </a:p>
          <a:p>
            <a:pPr fontAlgn="base"/>
            <a:r>
              <a:rPr lang="en-IN" sz="3050" dirty="0" smtClean="0"/>
              <a:t>The small number of possible keys means that an attacker can easily try all possible keys until the correct one is found, making it vulnerable to a brute force attack.</a:t>
            </a:r>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IN" dirty="0" smtClean="0"/>
              <a:t>It is not suitable for long text encryption as it would be easy to crack.</a:t>
            </a:r>
          </a:p>
          <a:p>
            <a:pPr fontAlgn="base"/>
            <a:r>
              <a:rPr lang="en-IN" dirty="0" smtClean="0"/>
              <a:t>It is not suitable for secure communication as it is easily broken.</a:t>
            </a:r>
          </a:p>
          <a:p>
            <a:pPr fontAlgn="base"/>
            <a:r>
              <a:rPr lang="en-IN" dirty="0" smtClean="0"/>
              <a:t>Does not provide confidentiality, integrity, and authenticity in a message</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736"/>
            <a:ext cx="8229600" cy="5214974"/>
          </a:xfrm>
        </p:spPr>
        <p:txBody>
          <a:bodyPr>
            <a:normAutofit fontScale="92500" lnSpcReduction="20000"/>
          </a:bodyPr>
          <a:lstStyle/>
          <a:p>
            <a:pPr fontAlgn="base"/>
            <a:r>
              <a:rPr lang="en-IN" b="1" dirty="0" smtClean="0"/>
              <a:t>Features of Caesar cipher:</a:t>
            </a:r>
            <a:endParaRPr lang="en-IN" dirty="0" smtClean="0"/>
          </a:p>
          <a:p>
            <a:pPr fontAlgn="base"/>
            <a:r>
              <a:rPr lang="en-IN" b="1" dirty="0" smtClean="0"/>
              <a:t>Substitution cipher: </a:t>
            </a:r>
            <a:r>
              <a:rPr lang="en-IN" dirty="0" smtClean="0"/>
              <a:t>The Caesar cipher is a type of substitution cipher, where each letter in the plaintext is replaced by a letter some fixed number of positions down the alphabet.</a:t>
            </a:r>
          </a:p>
          <a:p>
            <a:pPr fontAlgn="base"/>
            <a:r>
              <a:rPr lang="en-IN" b="1" dirty="0" smtClean="0"/>
              <a:t>Fixed key: </a:t>
            </a:r>
            <a:r>
              <a:rPr lang="en-IN" dirty="0" smtClean="0"/>
              <a:t>The Caesar cipher uses a fixed key, which is the number of positions by which the letters are shifted. This key is known to both the sender and the receiver.</a:t>
            </a:r>
          </a:p>
          <a:p>
            <a:pPr fontAlgn="base"/>
            <a:r>
              <a:rPr lang="en-IN" b="1" dirty="0" smtClean="0"/>
              <a:t>Symmetric encryption:</a:t>
            </a:r>
            <a:r>
              <a:rPr lang="en-IN" dirty="0" smtClean="0"/>
              <a:t> The Caesar cipher is a symmetric encryption technique, meaning that the same key is used for both encryption and decryption.</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rmAutofit lnSpcReduction="10000"/>
          </a:bodyPr>
          <a:lstStyle/>
          <a:p>
            <a:pPr fontAlgn="base"/>
            <a:r>
              <a:rPr lang="en-IN" b="1" dirty="0" smtClean="0"/>
              <a:t>Limited </a:t>
            </a:r>
            <a:r>
              <a:rPr lang="en-IN" b="1" dirty="0" err="1" smtClean="0"/>
              <a:t>keyspace</a:t>
            </a:r>
            <a:r>
              <a:rPr lang="en-IN" b="1" dirty="0" smtClean="0"/>
              <a:t>: </a:t>
            </a:r>
            <a:r>
              <a:rPr lang="en-IN" dirty="0" smtClean="0"/>
              <a:t>The Caesar cipher has a very limited </a:t>
            </a:r>
            <a:r>
              <a:rPr lang="en-IN" dirty="0" err="1" smtClean="0"/>
              <a:t>keyspace</a:t>
            </a:r>
            <a:r>
              <a:rPr lang="en-IN" dirty="0" smtClean="0"/>
              <a:t> of only 26 possible keys, as there are only 26 letters in the English alphabet.</a:t>
            </a:r>
          </a:p>
          <a:p>
            <a:pPr fontAlgn="base"/>
            <a:r>
              <a:rPr lang="en-IN" b="1" dirty="0" smtClean="0"/>
              <a:t>Vulnerable to brute force attacks: </a:t>
            </a:r>
            <a:r>
              <a:rPr lang="en-IN" dirty="0" smtClean="0"/>
              <a:t>The Caesar cipher is vulnerable to brute force attacks, as there are only 26 possible keys to try.</a:t>
            </a:r>
          </a:p>
          <a:p>
            <a:pPr fontAlgn="base"/>
            <a:r>
              <a:rPr lang="en-IN" b="1" dirty="0" smtClean="0"/>
              <a:t>Easy to implement: </a:t>
            </a:r>
            <a:r>
              <a:rPr lang="en-IN" dirty="0" smtClean="0"/>
              <a:t>The Caesar cipher is very easy to implement and requires only simple arithmetic operations, making it a popular choice for simple encryption tasks.</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rmAutofit/>
          </a:bodyPr>
          <a:lstStyle/>
          <a:p>
            <a:pPr fontAlgn="base"/>
            <a:r>
              <a:rPr lang="en-IN" b="1" dirty="0" smtClean="0"/>
              <a:t>Rules for the Caesar Cipher:</a:t>
            </a:r>
            <a:endParaRPr lang="en-IN" dirty="0" smtClean="0"/>
          </a:p>
          <a:p>
            <a:pPr fontAlgn="base"/>
            <a:r>
              <a:rPr lang="en-IN" dirty="0" smtClean="0"/>
              <a:t>Choose a number between 1 and 25. This will be your “shift” value.</a:t>
            </a:r>
          </a:p>
          <a:p>
            <a:pPr fontAlgn="base"/>
            <a:r>
              <a:rPr lang="en-IN" dirty="0" smtClean="0"/>
              <a:t>Write down the letters of the alphabet in order, from A to Z.</a:t>
            </a:r>
          </a:p>
          <a:p>
            <a:pPr fontAlgn="base"/>
            <a:r>
              <a:rPr lang="en-IN" dirty="0" smtClean="0"/>
              <a:t>Shift each letter of the alphabet by the “shift” value. For example, if the shift value is 3, A would become D, B would become E, C would become F, and so on.</a:t>
            </a:r>
          </a:p>
          <a:p>
            <a:pPr fontAlgn="base"/>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00634"/>
          </a:xfrm>
        </p:spPr>
        <p:txBody>
          <a:bodyPr>
            <a:normAutofit/>
          </a:bodyPr>
          <a:lstStyle/>
          <a:p>
            <a:pPr fontAlgn="base"/>
            <a:r>
              <a:rPr lang="en-IN" dirty="0" smtClean="0"/>
              <a:t>Encrypt your message by replacing each letter with the corresponding shifted letter. For example, if the shift value is 3, the word “hello” would become “</a:t>
            </a:r>
            <a:r>
              <a:rPr lang="en-IN" dirty="0" err="1" smtClean="0"/>
              <a:t>khoor</a:t>
            </a:r>
            <a:r>
              <a:rPr lang="en-IN" dirty="0" smtClean="0"/>
              <a:t>”.</a:t>
            </a:r>
          </a:p>
          <a:p>
            <a:pPr fontAlgn="base"/>
            <a:r>
              <a:rPr lang="en-IN" dirty="0" smtClean="0"/>
              <a:t>To decrypt the message, simply reverse the process by shifting each letter back by the same amount. For example, if the shift value is 3, the encrypted message “</a:t>
            </a:r>
            <a:r>
              <a:rPr lang="en-IN" dirty="0" err="1" smtClean="0"/>
              <a:t>khoor</a:t>
            </a:r>
            <a:r>
              <a:rPr lang="en-IN" dirty="0" smtClean="0"/>
              <a:t>” would become “hello”.</a:t>
            </a: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r>
              <a:rPr lang="en-IN" b="1" dirty="0" smtClean="0"/>
              <a:t>Algorithm for Caesar Cipher:</a:t>
            </a:r>
            <a:r>
              <a:rPr lang="en-IN" dirty="0" smtClean="0"/>
              <a:t> </a:t>
            </a:r>
            <a:br>
              <a:rPr lang="en-IN" dirty="0" smtClean="0"/>
            </a:br>
            <a:r>
              <a:rPr lang="en-IN" b="1" dirty="0" smtClean="0"/>
              <a:t>Input:</a:t>
            </a:r>
            <a:r>
              <a:rPr lang="en-IN" dirty="0" smtClean="0"/>
              <a:t> </a:t>
            </a:r>
          </a:p>
          <a:p>
            <a:pPr marL="514350" indent="-514350" fontAlgn="base">
              <a:buFont typeface="+mj-lt"/>
              <a:buAutoNum type="arabicPeriod"/>
            </a:pPr>
            <a:r>
              <a:rPr lang="en-IN" dirty="0" smtClean="0"/>
              <a:t>Choose a shift value between 1 and 25.</a:t>
            </a:r>
          </a:p>
          <a:p>
            <a:pPr marL="514350" indent="-514350" fontAlgn="base">
              <a:buFont typeface="+mj-lt"/>
              <a:buAutoNum type="arabicPeriod"/>
            </a:pPr>
            <a:r>
              <a:rPr lang="en-IN" dirty="0" smtClean="0"/>
              <a:t>Write down the alphabet in order from A to Z.</a:t>
            </a:r>
          </a:p>
          <a:p>
            <a:pPr marL="514350" indent="-514350" fontAlgn="base">
              <a:buFont typeface="+mj-lt"/>
              <a:buAutoNum type="arabicPeriod"/>
            </a:pPr>
            <a:r>
              <a:rPr lang="en-IN" dirty="0" smtClean="0"/>
              <a:t>Create a new alphabet by shifting each letter of the original alphabet by the shift value. For example, if the shift value is 3, the new alphabet would be:</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7298"/>
            <a:ext cx="8229600" cy="5214974"/>
          </a:xfrm>
        </p:spPr>
        <p:txBody>
          <a:bodyPr>
            <a:noAutofit/>
          </a:bodyPr>
          <a:lstStyle/>
          <a:p>
            <a:pPr marL="514350" indent="-514350" fontAlgn="base">
              <a:buFont typeface="+mj-lt"/>
              <a:buAutoNum type="arabicPeriod" startAt="4"/>
            </a:pPr>
            <a:r>
              <a:rPr lang="en-IN" sz="2950" dirty="0" smtClean="0"/>
              <a:t>A B C D E F G H I J K L M N O P Q R S T U V W X Y Z</a:t>
            </a:r>
            <a:br>
              <a:rPr lang="en-IN" sz="2950" dirty="0" smtClean="0"/>
            </a:br>
            <a:r>
              <a:rPr lang="en-IN" sz="2950" dirty="0" smtClean="0"/>
              <a:t>D E F G H I J K L M N O P Q R S T U V W X Y Z A B C</a:t>
            </a:r>
          </a:p>
          <a:p>
            <a:pPr marL="514350" indent="-514350" fontAlgn="base">
              <a:buFont typeface="+mj-lt"/>
              <a:buAutoNum type="arabicPeriod" startAt="4"/>
            </a:pPr>
            <a:r>
              <a:rPr lang="en-IN" sz="2950" dirty="0" smtClean="0"/>
              <a:t>Replace each letter of the message with the corresponding letter from the new alphabet. For example, if the shift value is 3, the word “hello” would become “</a:t>
            </a:r>
            <a:r>
              <a:rPr lang="en-IN" sz="2950" dirty="0" err="1" smtClean="0"/>
              <a:t>khoor</a:t>
            </a:r>
            <a:r>
              <a:rPr lang="en-IN" sz="2950" dirty="0" smtClean="0"/>
              <a:t>”.</a:t>
            </a:r>
          </a:p>
          <a:p>
            <a:pPr marL="514350" indent="-514350" fontAlgn="base">
              <a:buFont typeface="+mj-lt"/>
              <a:buAutoNum type="arabicPeriod" startAt="4"/>
            </a:pPr>
            <a:r>
              <a:rPr lang="en-IN" sz="2950" dirty="0" smtClean="0"/>
              <a:t>To decrypt the message, shift each letter back by the same amount. For example, if the shift value is 3, the encrypted message “</a:t>
            </a:r>
            <a:r>
              <a:rPr lang="en-IN" sz="2950" dirty="0" err="1" smtClean="0"/>
              <a:t>khoor</a:t>
            </a:r>
            <a:r>
              <a:rPr lang="en-IN" sz="2950" dirty="0" smtClean="0"/>
              <a:t>” would become “hello”.</a:t>
            </a:r>
          </a:p>
          <a:p>
            <a:endParaRPr lang="en-IN" sz="2950"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IN" b="1" dirty="0" smtClean="0"/>
              <a:t>Procedure:</a:t>
            </a:r>
            <a:r>
              <a:rPr lang="en-IN" dirty="0" smtClean="0"/>
              <a:t> </a:t>
            </a:r>
          </a:p>
          <a:p>
            <a:pPr fontAlgn="base"/>
            <a:r>
              <a:rPr lang="en-IN" dirty="0" smtClean="0"/>
              <a:t>Traverse the given text one character at a time </a:t>
            </a:r>
          </a:p>
          <a:p>
            <a:pPr fontAlgn="base"/>
            <a:r>
              <a:rPr lang="en-IN" dirty="0" smtClean="0"/>
              <a:t>For each character, transform the given character as per the rule, depending on whether we’re encrypting or decrypting the text.</a:t>
            </a:r>
          </a:p>
          <a:p>
            <a:pPr fontAlgn="base"/>
            <a:r>
              <a:rPr lang="en-IN" dirty="0" smtClean="0"/>
              <a:t>Return the new string generated.</a:t>
            </a:r>
          </a:p>
          <a:p>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A program that receives a Text (string) and Shift value( integer) and returns the encrypted text. </a:t>
            </a:r>
          </a:p>
          <a:p>
            <a:pPr>
              <a:buNone/>
            </a:pPr>
            <a:r>
              <a:rPr lang="en-IN" dirty="0" smtClean="0"/>
              <a:t>// A C++ program to illustrate Caesar Cipher Technique</a:t>
            </a:r>
          </a:p>
          <a:p>
            <a:pPr fontAlgn="base">
              <a:buNone/>
            </a:pPr>
            <a:r>
              <a:rPr lang="en-IN" dirty="0" smtClean="0"/>
              <a:t>#include &lt;</a:t>
            </a:r>
            <a:r>
              <a:rPr lang="en-IN" dirty="0" err="1" smtClean="0"/>
              <a:t>iostream</a:t>
            </a:r>
            <a:r>
              <a:rPr lang="en-IN" dirty="0" smtClean="0"/>
              <a:t>&gt;</a:t>
            </a:r>
          </a:p>
          <a:p>
            <a:pPr fontAlgn="base">
              <a:buNone/>
            </a:pPr>
            <a:r>
              <a:rPr lang="en-IN" dirty="0" smtClean="0"/>
              <a:t>using namespace std;</a:t>
            </a:r>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buNone/>
            </a:pPr>
            <a:r>
              <a:rPr lang="en-IN" dirty="0" smtClean="0"/>
              <a:t>// This function receives text and shift and</a:t>
            </a:r>
          </a:p>
          <a:p>
            <a:pPr fontAlgn="base">
              <a:buNone/>
            </a:pPr>
            <a:r>
              <a:rPr lang="en-IN" dirty="0" smtClean="0"/>
              <a:t> returns the encrypted text</a:t>
            </a:r>
          </a:p>
          <a:p>
            <a:pPr fontAlgn="base">
              <a:buNone/>
            </a:pPr>
            <a:r>
              <a:rPr lang="en-IN" dirty="0" smtClean="0"/>
              <a:t>string encrypt(string text, </a:t>
            </a:r>
            <a:r>
              <a:rPr lang="en-IN" dirty="0" err="1" smtClean="0"/>
              <a:t>int</a:t>
            </a:r>
            <a:r>
              <a:rPr lang="en-IN" dirty="0" smtClean="0"/>
              <a:t> s)</a:t>
            </a:r>
          </a:p>
          <a:p>
            <a:pPr fontAlgn="base">
              <a:buNone/>
            </a:pPr>
            <a:r>
              <a:rPr lang="en-IN" dirty="0" smtClean="0"/>
              <a:t>{</a:t>
            </a:r>
          </a:p>
          <a:p>
            <a:pPr fontAlgn="base">
              <a:buNone/>
            </a:pPr>
            <a:r>
              <a:rPr lang="en-IN" dirty="0" smtClean="0"/>
              <a:t>string result = "";</a:t>
            </a:r>
          </a:p>
          <a:p>
            <a:pPr fontAlgn="base">
              <a:buNone/>
            </a:pPr>
            <a:r>
              <a:rPr lang="en-IN" dirty="0" smtClean="0"/>
              <a:t>// traverse text</a:t>
            </a:r>
          </a:p>
          <a:p>
            <a:pPr fontAlgn="base">
              <a:buNone/>
            </a:pPr>
            <a:r>
              <a:rPr lang="nn-NO" dirty="0" smtClean="0"/>
              <a:t>for (int i = 0; i &lt; text.length(); i++) </a:t>
            </a:r>
          </a:p>
          <a:p>
            <a:pPr fontAlgn="base">
              <a:buNone/>
            </a:pPr>
            <a:r>
              <a:rPr lang="nn-NO" dirty="0" smtClean="0"/>
              <a:t>{</a:t>
            </a:r>
            <a:endParaRPr lang="en-IN" dirty="0" smtClean="0"/>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apply transformation to each character</a:t>
            </a:r>
          </a:p>
          <a:p>
            <a:pPr fontAlgn="base">
              <a:buNone/>
            </a:pPr>
            <a:r>
              <a:rPr lang="en-IN" dirty="0" smtClean="0"/>
              <a:t>// Encrypt Uppercase letters</a:t>
            </a:r>
          </a:p>
          <a:p>
            <a:pPr fontAlgn="base">
              <a:buNone/>
            </a:pPr>
            <a:r>
              <a:rPr lang="en-IN" dirty="0" smtClean="0"/>
              <a:t>if (</a:t>
            </a:r>
            <a:r>
              <a:rPr lang="en-IN" dirty="0" err="1" smtClean="0"/>
              <a:t>isupper</a:t>
            </a:r>
            <a:r>
              <a:rPr lang="en-IN" dirty="0" smtClean="0"/>
              <a:t>(text[i]))</a:t>
            </a:r>
          </a:p>
          <a:p>
            <a:pPr fontAlgn="base">
              <a:buNone/>
            </a:pPr>
            <a:r>
              <a:rPr lang="en-IN" dirty="0" smtClean="0"/>
              <a:t>        result += char(</a:t>
            </a:r>
            <a:r>
              <a:rPr lang="en-IN" dirty="0" err="1" smtClean="0"/>
              <a:t>int</a:t>
            </a:r>
            <a:r>
              <a:rPr lang="en-IN" dirty="0" smtClean="0"/>
              <a:t>(text[i] + s - 65) % 26 + 65);</a:t>
            </a:r>
          </a:p>
          <a:p>
            <a:pPr fontAlgn="base">
              <a:buNone/>
            </a:pPr>
            <a:r>
              <a:rPr lang="en-IN" dirty="0" smtClean="0"/>
              <a:t>// Encrypt Lowercase letters</a:t>
            </a:r>
          </a:p>
          <a:p>
            <a:pPr fontAlgn="base">
              <a:buNone/>
            </a:pPr>
            <a:r>
              <a:rPr lang="en-IN" dirty="0" smtClean="0"/>
              <a:t>else</a:t>
            </a:r>
          </a:p>
          <a:p>
            <a:pPr fontAlgn="base">
              <a:buNone/>
            </a:pPr>
            <a:r>
              <a:rPr lang="en-IN" dirty="0" smtClean="0"/>
              <a:t>       result += char(</a:t>
            </a:r>
            <a:r>
              <a:rPr lang="en-IN" dirty="0" err="1" smtClean="0"/>
              <a:t>int</a:t>
            </a:r>
            <a:r>
              <a:rPr lang="en-IN" dirty="0" smtClean="0"/>
              <a:t>(text[i] + s - 97) % 26 + 97);</a:t>
            </a:r>
          </a:p>
          <a:p>
            <a:pPr fontAlgn="base">
              <a:buNone/>
            </a:pPr>
            <a:endParaRPr lang="en-IN" dirty="0" smtClean="0"/>
          </a:p>
          <a:p>
            <a:pPr fontAlgn="base">
              <a:buNone/>
            </a:pPr>
            <a:endParaRPr lang="en-IN" dirty="0" smtClean="0"/>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a:t>
            </a:r>
          </a:p>
          <a:p>
            <a:pPr fontAlgn="base">
              <a:buNone/>
            </a:pPr>
            <a:r>
              <a:rPr lang="en-IN" dirty="0" smtClean="0"/>
              <a:t>     // Return the resulting string</a:t>
            </a:r>
          </a:p>
          <a:p>
            <a:pPr fontAlgn="base">
              <a:buNone/>
            </a:pPr>
            <a:r>
              <a:rPr lang="en-IN" dirty="0" smtClean="0"/>
              <a:t>    return result;</a:t>
            </a:r>
          </a:p>
          <a:p>
            <a:pPr fontAlgn="base">
              <a:buNone/>
            </a:pPr>
            <a:r>
              <a:rPr lang="en-IN" dirty="0" smtClean="0"/>
              <a:t>}</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Autofit/>
          </a:bodyPr>
          <a:lstStyle/>
          <a:p>
            <a:pPr fontAlgn="base">
              <a:buNone/>
            </a:pPr>
            <a:r>
              <a:rPr lang="en-IN" sz="2800" dirty="0" smtClean="0"/>
              <a:t>// Driver program to test the above function</a:t>
            </a:r>
          </a:p>
          <a:p>
            <a:pPr fontAlgn="base">
              <a:buNone/>
            </a:pPr>
            <a:r>
              <a:rPr lang="en-IN" sz="2800" dirty="0" err="1" smtClean="0"/>
              <a:t>int</a:t>
            </a:r>
            <a:r>
              <a:rPr lang="en-IN" sz="2800" dirty="0" smtClean="0"/>
              <a:t> main()</a:t>
            </a:r>
          </a:p>
          <a:p>
            <a:pPr fontAlgn="base">
              <a:buNone/>
            </a:pPr>
            <a:r>
              <a:rPr lang="en-IN" sz="2800" dirty="0" smtClean="0"/>
              <a:t>{</a:t>
            </a:r>
          </a:p>
          <a:p>
            <a:pPr fontAlgn="base">
              <a:buNone/>
            </a:pPr>
            <a:r>
              <a:rPr lang="en-IN" sz="2800" dirty="0" smtClean="0"/>
              <a:t>    string text = "ATTACKATONCE";</a:t>
            </a:r>
          </a:p>
          <a:p>
            <a:pPr fontAlgn="base">
              <a:buNone/>
            </a:pPr>
            <a:r>
              <a:rPr lang="en-IN" sz="2800" dirty="0" smtClean="0"/>
              <a:t>    </a:t>
            </a:r>
            <a:r>
              <a:rPr lang="en-IN" sz="2800" dirty="0" err="1" smtClean="0"/>
              <a:t>int</a:t>
            </a:r>
            <a:r>
              <a:rPr lang="en-IN" sz="2800" dirty="0" smtClean="0"/>
              <a:t> s = 4;</a:t>
            </a:r>
          </a:p>
          <a:p>
            <a:pPr fontAlgn="base">
              <a:buNone/>
            </a:pPr>
            <a:r>
              <a:rPr lang="en-IN" sz="2800" dirty="0" smtClean="0"/>
              <a:t>    </a:t>
            </a:r>
            <a:r>
              <a:rPr lang="en-IN" sz="2800" dirty="0" err="1" smtClean="0"/>
              <a:t>cout</a:t>
            </a:r>
            <a:r>
              <a:rPr lang="en-IN" sz="2800" dirty="0" smtClean="0"/>
              <a:t> &lt;&lt; "Text : " &lt;&lt; text;</a:t>
            </a:r>
          </a:p>
          <a:p>
            <a:pPr fontAlgn="base">
              <a:buNone/>
            </a:pPr>
            <a:r>
              <a:rPr lang="en-IN" sz="2800" dirty="0" smtClean="0"/>
              <a:t>    </a:t>
            </a:r>
            <a:r>
              <a:rPr lang="en-IN" sz="2800" dirty="0" err="1" smtClean="0"/>
              <a:t>cout</a:t>
            </a:r>
            <a:r>
              <a:rPr lang="en-IN" sz="2800" dirty="0" smtClean="0"/>
              <a:t> &lt;&lt; "\</a:t>
            </a:r>
            <a:r>
              <a:rPr lang="en-IN" sz="2800" dirty="0" err="1" smtClean="0"/>
              <a:t>nShift</a:t>
            </a:r>
            <a:r>
              <a:rPr lang="en-IN" sz="2800" dirty="0" smtClean="0"/>
              <a:t>: " &lt;&lt; s;</a:t>
            </a:r>
          </a:p>
          <a:p>
            <a:pPr fontAlgn="base">
              <a:buNone/>
            </a:pPr>
            <a:r>
              <a:rPr lang="en-IN" sz="2800" dirty="0" smtClean="0"/>
              <a:t>    </a:t>
            </a:r>
            <a:r>
              <a:rPr lang="en-IN" sz="2800" dirty="0" err="1" smtClean="0"/>
              <a:t>cout</a:t>
            </a:r>
            <a:r>
              <a:rPr lang="en-IN" sz="2800" dirty="0" smtClean="0"/>
              <a:t> &lt;&lt; "\</a:t>
            </a:r>
            <a:r>
              <a:rPr lang="en-IN" sz="2800" dirty="0" err="1" smtClean="0"/>
              <a:t>nCipher</a:t>
            </a:r>
            <a:r>
              <a:rPr lang="en-IN" sz="2800" dirty="0" smtClean="0"/>
              <a:t>: " &lt;&lt; encrypt(text, s);</a:t>
            </a:r>
          </a:p>
          <a:p>
            <a:pPr fontAlgn="base">
              <a:buNone/>
            </a:pPr>
            <a:r>
              <a:rPr lang="en-IN" sz="2800" dirty="0" smtClean="0"/>
              <a:t>    return 0;</a:t>
            </a:r>
          </a:p>
          <a:p>
            <a:pPr fontAlgn="base">
              <a:buNone/>
            </a:pPr>
            <a:r>
              <a:rPr lang="en-IN" sz="2800" dirty="0" smtClean="0"/>
              <a:t>}</a:t>
            </a:r>
          </a:p>
          <a:p>
            <a:pPr>
              <a:buNone/>
            </a:pPr>
            <a:endParaRPr lang="en-IN" sz="2800"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smtClean="0"/>
              <a:t>OUTPUT :</a:t>
            </a:r>
          </a:p>
          <a:p>
            <a:pPr>
              <a:buNone/>
            </a:pPr>
            <a:r>
              <a:rPr lang="en-IN" dirty="0" smtClean="0"/>
              <a:t>Text : ATTACKATONCE </a:t>
            </a:r>
          </a:p>
          <a:p>
            <a:pPr>
              <a:buNone/>
            </a:pPr>
            <a:r>
              <a:rPr lang="en-IN" dirty="0" smtClean="0"/>
              <a:t>Shift: 4 </a:t>
            </a:r>
          </a:p>
          <a:p>
            <a:pPr>
              <a:buNone/>
            </a:pPr>
            <a:r>
              <a:rPr lang="en-IN" dirty="0" smtClean="0"/>
              <a:t>Cipher: EXXEGOEXSRGI</a:t>
            </a:r>
            <a:endParaRPr lang="en-IN" dirty="0"/>
          </a:p>
        </p:txBody>
      </p:sp>
      <p:sp>
        <p:nvSpPr>
          <p:cNvPr id="4" name="Title 1"/>
          <p:cNvSpPr>
            <a:spLocks noGrp="1"/>
          </p:cNvSpPr>
          <p:nvPr>
            <p:ph type="title"/>
          </p:nvPr>
        </p:nvSpPr>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457200" y="1600200"/>
            <a:ext cx="8229600" cy="4525963"/>
          </a:xfrm>
        </p:spPr>
        <p:txBody>
          <a:bodyPr/>
          <a:lstStyle/>
          <a:p>
            <a:r>
              <a:rPr lang="en-US" b="1" dirty="0" smtClean="0"/>
              <a:t>CONCLUSION: </a:t>
            </a:r>
            <a:endParaRPr lang="en-IN" dirty="0" smtClean="0"/>
          </a:p>
          <a:p>
            <a:r>
              <a:rPr lang="en-US" dirty="0" smtClean="0"/>
              <a:t>The basic feature (Encryption) of Substitution cipher is studied through this experiment.</a:t>
            </a:r>
            <a:endParaRPr lang="en-IN" dirty="0"/>
          </a:p>
        </p:txBody>
      </p:sp>
      <p:sp>
        <p:nvSpPr>
          <p:cNvPr id="7" name="Title 1"/>
          <p:cNvSpPr>
            <a:spLocks noGrp="1"/>
          </p:cNvSpPr>
          <p:nvPr>
            <p:ph type="title"/>
          </p:nvPr>
        </p:nvSpPr>
        <p:spPr>
          <a:xfrm>
            <a:off x="457200" y="274638"/>
            <a:ext cx="8229600" cy="1143000"/>
          </a:xfrm>
        </p:spPr>
        <p:txBody>
          <a:bodyPr>
            <a:normAutofit/>
          </a:bodyPr>
          <a:lstStyle/>
          <a:p>
            <a:r>
              <a:rPr lang="en-US" sz="4800" b="1" dirty="0" smtClean="0"/>
              <a:t>PRACTICAL NO : 02 (A)</a:t>
            </a:r>
            <a:endParaRPr lang="en-IN" sz="4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28" y="2714620"/>
            <a:ext cx="8229600" cy="1811319"/>
          </a:xfrm>
        </p:spPr>
        <p:txBody>
          <a:bodyPr>
            <a:normAutofit lnSpcReduction="10000"/>
          </a:bodyPr>
          <a:lstStyle/>
          <a:p>
            <a:pPr algn="ctr">
              <a:buNone/>
            </a:pPr>
            <a:r>
              <a:rPr lang="en-IN" sz="4000" b="1" dirty="0" smtClean="0"/>
              <a:t>Demonstrate Caesar Cipher with the help of a program for Receiver’s Side(Decryption)</a:t>
            </a:r>
          </a:p>
          <a:p>
            <a:pPr algn="ctr">
              <a:buNone/>
            </a:pPr>
            <a:endParaRPr lang="en-IN" sz="4000" dirty="0"/>
          </a:p>
        </p:txBody>
      </p:sp>
      <p:sp>
        <p:nvSpPr>
          <p:cNvPr id="4" name="Title 1"/>
          <p:cNvSpPr>
            <a:spLocks noGrp="1"/>
          </p:cNvSpPr>
          <p:nvPr>
            <p:ph type="title"/>
          </p:nvPr>
        </p:nvSpPr>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We can either write another function decrypt similar to encrypt, that’ll apply the given shift in the opposite direction to decrypt the original text. </a:t>
            </a:r>
          </a:p>
          <a:p>
            <a:r>
              <a:rPr lang="en-IN" dirty="0" smtClean="0"/>
              <a:t>However we can use the cyclic property of the cipher under modulo, hence we can simply observe </a:t>
            </a:r>
          </a:p>
          <a:p>
            <a:pPr>
              <a:buNone/>
            </a:pPr>
            <a:r>
              <a:rPr lang="en-IN" dirty="0" smtClean="0"/>
              <a:t>			Cipher(n) = De-cipher(26-n)</a:t>
            </a:r>
            <a:endParaRPr lang="en-IN" dirty="0"/>
          </a:p>
        </p:txBody>
      </p:sp>
      <p:sp>
        <p:nvSpPr>
          <p:cNvPr id="4" name="Title 1"/>
          <p:cNvSpPr>
            <a:spLocks noGrp="1"/>
          </p:cNvSpPr>
          <p:nvPr>
            <p:ph type="title"/>
          </p:nvPr>
        </p:nvSpPr>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To decrypt the message, you simply need to shift each letter back by the same number of positions. In this case, you would shift each letter in “KHOOR” back by 3 positions to get the original message, “HELLO”.</a:t>
            </a:r>
          </a:p>
          <a:p>
            <a:r>
              <a:rPr lang="en-IN" dirty="0" smtClean="0"/>
              <a:t>Hence, we can use the same function to decrypt, instead, we’ll modify the shift value such that shift = 26-shift </a:t>
            </a:r>
          </a:p>
          <a:p>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29196"/>
          </a:xfrm>
        </p:spPr>
        <p:txBody>
          <a:bodyPr/>
          <a:lstStyle/>
          <a:p>
            <a:r>
              <a:rPr lang="en-US" b="1" dirty="0" smtClean="0"/>
              <a:t>ALGORITHM:</a:t>
            </a:r>
          </a:p>
          <a:p>
            <a:r>
              <a:rPr lang="en-US" dirty="0" smtClean="0"/>
              <a:t>1) Take Cipher Text file as an input</a:t>
            </a:r>
            <a:endParaRPr lang="en-IN" dirty="0" smtClean="0"/>
          </a:p>
          <a:p>
            <a:r>
              <a:rPr lang="en-US" dirty="0" smtClean="0"/>
              <a:t>2) Divide it into three parts </a:t>
            </a:r>
            <a:endParaRPr lang="en-IN" dirty="0" smtClean="0"/>
          </a:p>
          <a:p>
            <a:r>
              <a:rPr lang="en-US" dirty="0" smtClean="0"/>
              <a:t>3) Apply 3-5  as keys to these three parts respectively for decryption </a:t>
            </a:r>
            <a:endParaRPr lang="en-IN" dirty="0" smtClean="0"/>
          </a:p>
          <a:p>
            <a:r>
              <a:rPr lang="en-US" dirty="0" smtClean="0"/>
              <a:t>4) Output file will contain Plain Text</a:t>
            </a:r>
            <a:endParaRPr lang="en-IN" dirty="0" smtClean="0"/>
          </a:p>
          <a:p>
            <a:endParaRPr lang="en-IN" b="1" dirty="0"/>
          </a:p>
        </p:txBody>
      </p:sp>
      <p:sp>
        <p:nvSpPr>
          <p:cNvPr id="4" name="Title 1"/>
          <p:cNvSpPr>
            <a:spLocks noGrp="1"/>
          </p:cNvSpPr>
          <p:nvPr>
            <p:ph type="title"/>
          </p:nvPr>
        </p:nvSpPr>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5500726"/>
          </a:xfrm>
        </p:spPr>
        <p:txBody>
          <a:bodyPr>
            <a:normAutofit fontScale="92500" lnSpcReduction="20000"/>
          </a:bodyPr>
          <a:lstStyle/>
          <a:p>
            <a:pPr>
              <a:buNone/>
            </a:pPr>
            <a:r>
              <a:rPr lang="en-IN" dirty="0" smtClean="0"/>
              <a:t>#include&lt;</a:t>
            </a:r>
            <a:r>
              <a:rPr lang="en-IN" dirty="0" err="1" smtClean="0"/>
              <a:t>stdio.h</a:t>
            </a:r>
            <a:r>
              <a:rPr lang="en-IN" dirty="0" smtClean="0"/>
              <a:t>&gt;  </a:t>
            </a:r>
          </a:p>
          <a:p>
            <a:pPr>
              <a:buNone/>
            </a:pPr>
            <a:r>
              <a:rPr lang="en-IN" dirty="0" smtClean="0"/>
              <a:t>#include&lt;</a:t>
            </a:r>
            <a:r>
              <a:rPr lang="en-IN" dirty="0" err="1" smtClean="0"/>
              <a:t>conio.h</a:t>
            </a:r>
            <a:r>
              <a:rPr lang="en-IN" dirty="0" smtClean="0"/>
              <a:t>&gt;  </a:t>
            </a:r>
          </a:p>
          <a:p>
            <a:pPr>
              <a:buNone/>
            </a:pPr>
            <a:r>
              <a:rPr lang="en-IN" b="1" dirty="0" err="1" smtClean="0"/>
              <a:t>int</a:t>
            </a:r>
            <a:r>
              <a:rPr lang="en-IN" dirty="0" smtClean="0"/>
              <a:t> main()  </a:t>
            </a:r>
          </a:p>
          <a:p>
            <a:pPr>
              <a:buNone/>
            </a:pPr>
            <a:r>
              <a:rPr lang="en-IN" dirty="0" smtClean="0"/>
              <a:t>{  </a:t>
            </a:r>
          </a:p>
          <a:p>
            <a:pPr>
              <a:buNone/>
            </a:pPr>
            <a:r>
              <a:rPr lang="en-IN" dirty="0" smtClean="0"/>
              <a:t>    </a:t>
            </a:r>
            <a:r>
              <a:rPr lang="en-IN" b="1" dirty="0" err="1" smtClean="0"/>
              <a:t>int</a:t>
            </a:r>
            <a:r>
              <a:rPr lang="en-IN" dirty="0" smtClean="0"/>
              <a:t> i, f;  </a:t>
            </a:r>
          </a:p>
          <a:p>
            <a:pPr>
              <a:buNone/>
            </a:pPr>
            <a:r>
              <a:rPr lang="en-IN" dirty="0" smtClean="0"/>
              <a:t>    </a:t>
            </a:r>
            <a:r>
              <a:rPr lang="en-IN" b="1" dirty="0" smtClean="0"/>
              <a:t>char</a:t>
            </a:r>
            <a:r>
              <a:rPr lang="en-IN" dirty="0" smtClean="0"/>
              <a:t> pop[100], c;  </a:t>
            </a:r>
          </a:p>
          <a:p>
            <a:pPr>
              <a:buNone/>
            </a:pPr>
            <a:r>
              <a:rPr lang="en-IN" dirty="0" smtClean="0"/>
              <a:t>    </a:t>
            </a:r>
            <a:r>
              <a:rPr lang="en-IN" dirty="0" err="1" smtClean="0"/>
              <a:t>printf</a:t>
            </a:r>
            <a:r>
              <a:rPr lang="en-IN" dirty="0" smtClean="0"/>
              <a:t>("enter a encrypted text \t");  </a:t>
            </a:r>
          </a:p>
          <a:p>
            <a:pPr>
              <a:buNone/>
            </a:pPr>
            <a:r>
              <a:rPr lang="en-IN" dirty="0" smtClean="0"/>
              <a:t>    gets(pop);  </a:t>
            </a:r>
          </a:p>
          <a:p>
            <a:pPr>
              <a:buNone/>
            </a:pPr>
            <a:r>
              <a:rPr lang="en-IN" dirty="0" smtClean="0"/>
              <a:t>    </a:t>
            </a:r>
            <a:r>
              <a:rPr lang="en-IN" dirty="0" err="1" smtClean="0"/>
              <a:t>printf</a:t>
            </a:r>
            <a:r>
              <a:rPr lang="en-IN" dirty="0" smtClean="0"/>
              <a:t>("enter key \t");  </a:t>
            </a:r>
          </a:p>
          <a:p>
            <a:pPr>
              <a:buNone/>
            </a:pPr>
            <a:r>
              <a:rPr lang="en-IN" dirty="0" smtClean="0"/>
              <a:t>    </a:t>
            </a:r>
            <a:r>
              <a:rPr lang="en-IN" dirty="0" err="1" smtClean="0"/>
              <a:t>scanf</a:t>
            </a:r>
            <a:r>
              <a:rPr lang="en-IN" dirty="0" smtClean="0"/>
              <a:t>("%d", &amp;f);  </a:t>
            </a:r>
          </a:p>
          <a:p>
            <a:pPr>
              <a:buNone/>
            </a:pPr>
            <a:r>
              <a:rPr lang="en-IN" dirty="0" smtClean="0"/>
              <a:t>    </a:t>
            </a:r>
            <a:r>
              <a:rPr lang="en-IN" b="1" dirty="0" smtClean="0"/>
              <a:t>for</a:t>
            </a:r>
            <a:r>
              <a:rPr lang="en-IN" dirty="0" smtClean="0"/>
              <a:t>(i = 0; pop[i] != '\0'; i++)  </a:t>
            </a:r>
          </a:p>
          <a:p>
            <a:pPr>
              <a:buNone/>
            </a:pPr>
            <a:endParaRPr lang="en-IN" dirty="0"/>
          </a:p>
        </p:txBody>
      </p:sp>
      <p:sp>
        <p:nvSpPr>
          <p:cNvPr id="4" name="Title 1"/>
          <p:cNvSpPr>
            <a:spLocks noGrp="1"/>
          </p:cNvSpPr>
          <p:nvPr>
            <p:ph type="title"/>
          </p:nvPr>
        </p:nvSpPr>
        <p:spPr>
          <a:xfrm>
            <a:off x="428596" y="0"/>
            <a:ext cx="8229600" cy="1143000"/>
          </a:xfrm>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5500726"/>
          </a:xfrm>
        </p:spPr>
        <p:txBody>
          <a:bodyPr>
            <a:normAutofit fontScale="92500" lnSpcReduction="20000"/>
          </a:bodyPr>
          <a:lstStyle/>
          <a:p>
            <a:pPr>
              <a:buNone/>
            </a:pPr>
            <a:r>
              <a:rPr lang="en-IN" dirty="0" smtClean="0"/>
              <a:t>    {  </a:t>
            </a:r>
          </a:p>
          <a:p>
            <a:pPr>
              <a:buNone/>
            </a:pPr>
            <a:r>
              <a:rPr lang="en-IN" dirty="0" smtClean="0"/>
              <a:t>        c = pop[i];  </a:t>
            </a:r>
          </a:p>
          <a:p>
            <a:pPr>
              <a:buNone/>
            </a:pPr>
            <a:r>
              <a:rPr lang="en-IN" dirty="0" smtClean="0"/>
              <a:t>        </a:t>
            </a:r>
            <a:r>
              <a:rPr lang="en-IN" b="1" dirty="0" smtClean="0"/>
              <a:t>if</a:t>
            </a:r>
            <a:r>
              <a:rPr lang="en-IN" dirty="0" smtClean="0"/>
              <a:t>(c &gt;= 'a' &amp;&amp; c &lt;= 'z')  </a:t>
            </a:r>
          </a:p>
          <a:p>
            <a:pPr>
              <a:buNone/>
            </a:pPr>
            <a:r>
              <a:rPr lang="en-IN" dirty="0" smtClean="0"/>
              <a:t>        {  </a:t>
            </a:r>
          </a:p>
          <a:p>
            <a:pPr>
              <a:buNone/>
            </a:pPr>
            <a:r>
              <a:rPr lang="en-IN" dirty="0" smtClean="0"/>
              <a:t>            c = c - f;  </a:t>
            </a:r>
          </a:p>
          <a:p>
            <a:pPr>
              <a:buNone/>
            </a:pPr>
            <a:r>
              <a:rPr lang="en-IN" dirty="0" smtClean="0"/>
              <a:t>            </a:t>
            </a:r>
            <a:r>
              <a:rPr lang="en-IN" b="1" dirty="0" smtClean="0">
                <a:solidFill>
                  <a:srgbClr val="FF0000"/>
                </a:solidFill>
              </a:rPr>
              <a:t>if</a:t>
            </a:r>
            <a:r>
              <a:rPr lang="en-IN" dirty="0" smtClean="0">
                <a:solidFill>
                  <a:srgbClr val="FF0000"/>
                </a:solidFill>
              </a:rPr>
              <a:t>(c &lt; 'a')  </a:t>
            </a:r>
          </a:p>
          <a:p>
            <a:pPr>
              <a:buNone/>
            </a:pPr>
            <a:r>
              <a:rPr lang="en-IN" dirty="0" smtClean="0">
                <a:solidFill>
                  <a:srgbClr val="FF0000"/>
                </a:solidFill>
              </a:rPr>
              <a:t>            {  </a:t>
            </a:r>
          </a:p>
          <a:p>
            <a:pPr>
              <a:buNone/>
            </a:pPr>
            <a:r>
              <a:rPr lang="en-IN" dirty="0" smtClean="0">
                <a:solidFill>
                  <a:srgbClr val="FF0000"/>
                </a:solidFill>
              </a:rPr>
              <a:t>                c = c + 'z' - 'a' + 1;  </a:t>
            </a:r>
          </a:p>
          <a:p>
            <a:pPr>
              <a:buNone/>
            </a:pPr>
            <a:r>
              <a:rPr lang="en-IN" dirty="0" smtClean="0">
                <a:solidFill>
                  <a:srgbClr val="FF0000"/>
                </a:solidFill>
              </a:rPr>
              <a:t>            }  </a:t>
            </a:r>
          </a:p>
          <a:p>
            <a:pPr>
              <a:buNone/>
            </a:pPr>
            <a:r>
              <a:rPr lang="en-IN" dirty="0" smtClean="0"/>
              <a:t>            pop[i] = c;  </a:t>
            </a:r>
          </a:p>
          <a:p>
            <a:pPr>
              <a:buNone/>
            </a:pPr>
            <a:r>
              <a:rPr lang="en-IN" dirty="0" smtClean="0"/>
              <a:t>        }  </a:t>
            </a:r>
          </a:p>
          <a:p>
            <a:pPr>
              <a:buNone/>
            </a:pPr>
            <a:r>
              <a:rPr lang="en-IN" dirty="0" smtClean="0"/>
              <a:t>       </a:t>
            </a:r>
            <a:endParaRPr lang="en-IN" dirty="0"/>
          </a:p>
        </p:txBody>
      </p:sp>
      <p:sp>
        <p:nvSpPr>
          <p:cNvPr id="4" name="Title 1"/>
          <p:cNvSpPr>
            <a:spLocks noGrp="1"/>
          </p:cNvSpPr>
          <p:nvPr>
            <p:ph type="title"/>
          </p:nvPr>
        </p:nvSpPr>
        <p:spPr>
          <a:xfrm>
            <a:off x="428596" y="0"/>
            <a:ext cx="8229600" cy="1143000"/>
          </a:xfrm>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71546"/>
            <a:ext cx="8229600" cy="5786454"/>
          </a:xfrm>
        </p:spPr>
        <p:txBody>
          <a:bodyPr>
            <a:normAutofit fontScale="85000" lnSpcReduction="20000"/>
          </a:bodyPr>
          <a:lstStyle/>
          <a:p>
            <a:pPr>
              <a:buNone/>
            </a:pPr>
            <a:r>
              <a:rPr lang="en-IN" dirty="0" smtClean="0"/>
              <a:t> </a:t>
            </a:r>
            <a:r>
              <a:rPr lang="en-IN" b="1" dirty="0" smtClean="0"/>
              <a:t>else</a:t>
            </a:r>
            <a:r>
              <a:rPr lang="en-IN" dirty="0" smtClean="0"/>
              <a:t> </a:t>
            </a:r>
            <a:r>
              <a:rPr lang="en-IN" b="1" dirty="0" smtClean="0"/>
              <a:t>if</a:t>
            </a:r>
            <a:r>
              <a:rPr lang="en-IN" dirty="0" smtClean="0"/>
              <a:t>(c &gt;= 'A' &amp;&amp; c &lt; 'Z')  </a:t>
            </a:r>
          </a:p>
          <a:p>
            <a:pPr>
              <a:buNone/>
            </a:pPr>
            <a:r>
              <a:rPr lang="en-IN" dirty="0" smtClean="0"/>
              <a:t>        {  </a:t>
            </a:r>
          </a:p>
          <a:p>
            <a:pPr>
              <a:buNone/>
            </a:pPr>
            <a:r>
              <a:rPr lang="en-IN" dirty="0" smtClean="0"/>
              <a:t>            c = c + f;  </a:t>
            </a:r>
          </a:p>
          <a:p>
            <a:pPr>
              <a:buNone/>
            </a:pPr>
            <a:r>
              <a:rPr lang="en-IN" dirty="0" smtClean="0"/>
              <a:t>           </a:t>
            </a:r>
            <a:r>
              <a:rPr lang="en-IN" dirty="0" smtClean="0">
                <a:solidFill>
                  <a:srgbClr val="FF0000"/>
                </a:solidFill>
              </a:rPr>
              <a:t> </a:t>
            </a:r>
            <a:r>
              <a:rPr lang="en-IN" b="1" dirty="0" smtClean="0">
                <a:solidFill>
                  <a:srgbClr val="FF0000"/>
                </a:solidFill>
              </a:rPr>
              <a:t>if</a:t>
            </a:r>
            <a:r>
              <a:rPr lang="en-IN" dirty="0" smtClean="0">
                <a:solidFill>
                  <a:srgbClr val="FF0000"/>
                </a:solidFill>
              </a:rPr>
              <a:t>(c &lt; 'A')  </a:t>
            </a:r>
          </a:p>
          <a:p>
            <a:pPr>
              <a:buNone/>
            </a:pPr>
            <a:r>
              <a:rPr lang="en-IN" dirty="0" smtClean="0">
                <a:solidFill>
                  <a:srgbClr val="FF0000"/>
                </a:solidFill>
              </a:rPr>
              <a:t>            {  </a:t>
            </a:r>
          </a:p>
          <a:p>
            <a:pPr>
              <a:buNone/>
            </a:pPr>
            <a:r>
              <a:rPr lang="en-IN" dirty="0" smtClean="0">
                <a:solidFill>
                  <a:srgbClr val="FF0000"/>
                </a:solidFill>
              </a:rPr>
              <a:t>                c = c + 'Z' - 'A' + 1;  </a:t>
            </a:r>
          </a:p>
          <a:p>
            <a:pPr>
              <a:buNone/>
            </a:pPr>
            <a:r>
              <a:rPr lang="en-IN" dirty="0" smtClean="0">
                <a:solidFill>
                  <a:srgbClr val="FF0000"/>
                </a:solidFill>
              </a:rPr>
              <a:t>            }  </a:t>
            </a:r>
          </a:p>
          <a:p>
            <a:pPr>
              <a:buNone/>
            </a:pPr>
            <a:r>
              <a:rPr lang="en-IN" dirty="0" smtClean="0"/>
              <a:t>            pop[i] = c;  </a:t>
            </a:r>
          </a:p>
          <a:p>
            <a:pPr>
              <a:buNone/>
            </a:pPr>
            <a:r>
              <a:rPr lang="en-IN" dirty="0" smtClean="0"/>
              <a:t>        }  </a:t>
            </a:r>
          </a:p>
          <a:p>
            <a:pPr>
              <a:buNone/>
            </a:pPr>
            <a:r>
              <a:rPr lang="en-IN" dirty="0" smtClean="0"/>
              <a:t>    }  </a:t>
            </a:r>
          </a:p>
          <a:p>
            <a:pPr>
              <a:buNone/>
            </a:pPr>
            <a:r>
              <a:rPr lang="en-IN" dirty="0" smtClean="0"/>
              <a:t>    </a:t>
            </a:r>
            <a:r>
              <a:rPr lang="en-IN" dirty="0" err="1" smtClean="0"/>
              <a:t>printf</a:t>
            </a:r>
            <a:r>
              <a:rPr lang="en-IN" dirty="0" smtClean="0"/>
              <a:t>(" </a:t>
            </a:r>
            <a:r>
              <a:rPr lang="en-IN" dirty="0" err="1" smtClean="0"/>
              <a:t>Dycrypted</a:t>
            </a:r>
            <a:r>
              <a:rPr lang="en-IN" dirty="0" smtClean="0"/>
              <a:t> message: %s", pop);  </a:t>
            </a:r>
          </a:p>
          <a:p>
            <a:pPr>
              <a:buNone/>
            </a:pPr>
            <a:r>
              <a:rPr lang="en-IN" dirty="0" smtClean="0"/>
              <a:t>    </a:t>
            </a:r>
            <a:r>
              <a:rPr lang="en-IN" b="1" dirty="0" smtClean="0"/>
              <a:t>return</a:t>
            </a:r>
            <a:r>
              <a:rPr lang="en-IN" dirty="0" smtClean="0"/>
              <a:t> 0;  </a:t>
            </a:r>
          </a:p>
          <a:p>
            <a:pPr>
              <a:buNone/>
            </a:pPr>
            <a:r>
              <a:rPr lang="en-IN" dirty="0" smtClean="0"/>
              <a:t>}  </a:t>
            </a:r>
          </a:p>
          <a:p>
            <a:pPr>
              <a:buNone/>
            </a:pPr>
            <a:endParaRPr lang="en-IN" dirty="0"/>
          </a:p>
        </p:txBody>
      </p:sp>
      <p:sp>
        <p:nvSpPr>
          <p:cNvPr id="4" name="Title 1"/>
          <p:cNvSpPr>
            <a:spLocks noGrp="1"/>
          </p:cNvSpPr>
          <p:nvPr>
            <p:ph type="title"/>
          </p:nvPr>
        </p:nvSpPr>
        <p:spPr>
          <a:xfrm>
            <a:off x="428596" y="0"/>
            <a:ext cx="8229600" cy="1143000"/>
          </a:xfrm>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1600200"/>
            <a:ext cx="8229600" cy="4525963"/>
          </a:xfrm>
        </p:spPr>
        <p:txBody>
          <a:bodyPr/>
          <a:lstStyle/>
          <a:p>
            <a:pPr>
              <a:buNone/>
            </a:pPr>
            <a:r>
              <a:rPr lang="en-IN" b="1" dirty="0" smtClean="0"/>
              <a:t>OUTPUT :</a:t>
            </a:r>
          </a:p>
          <a:p>
            <a:pPr>
              <a:buNone/>
            </a:pPr>
            <a:r>
              <a:rPr lang="en-IN" dirty="0" smtClean="0"/>
              <a:t>enter a encrypted text : EXXEGOEXSRGI</a:t>
            </a:r>
          </a:p>
          <a:p>
            <a:pPr>
              <a:buNone/>
            </a:pPr>
            <a:r>
              <a:rPr lang="en-IN" dirty="0" smtClean="0"/>
              <a:t>enter key : 4 </a:t>
            </a:r>
          </a:p>
          <a:p>
            <a:pPr>
              <a:buNone/>
            </a:pPr>
            <a:r>
              <a:rPr lang="en-IN" dirty="0" smtClean="0"/>
              <a:t>Decrypted message: ATTACKATONCE </a:t>
            </a:r>
          </a:p>
          <a:p>
            <a:pPr>
              <a:buNone/>
            </a:pPr>
            <a:endParaRPr lang="en-IN" dirty="0"/>
          </a:p>
        </p:txBody>
      </p:sp>
      <p:sp>
        <p:nvSpPr>
          <p:cNvPr id="5" name="Title 1"/>
          <p:cNvSpPr>
            <a:spLocks noGrp="1"/>
          </p:cNvSpPr>
          <p:nvPr>
            <p:ph type="title"/>
          </p:nvPr>
        </p:nvSpPr>
        <p:spPr>
          <a:xfrm>
            <a:off x="457200" y="274638"/>
            <a:ext cx="8229600" cy="1143000"/>
          </a:xfrm>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CONCLUSION: </a:t>
            </a:r>
            <a:endParaRPr lang="en-IN" dirty="0" smtClean="0"/>
          </a:p>
          <a:p>
            <a:r>
              <a:rPr lang="en-US" dirty="0" smtClean="0"/>
              <a:t>The basic feature (Decryption) of Substitution cipher is studied through this experiment.</a:t>
            </a:r>
            <a:endParaRPr lang="en-IN" dirty="0"/>
          </a:p>
        </p:txBody>
      </p:sp>
      <p:sp>
        <p:nvSpPr>
          <p:cNvPr id="4" name="Title 1"/>
          <p:cNvSpPr>
            <a:spLocks noGrp="1"/>
          </p:cNvSpPr>
          <p:nvPr>
            <p:ph type="title"/>
          </p:nvPr>
        </p:nvSpPr>
        <p:spPr/>
        <p:txBody>
          <a:bodyPr>
            <a:normAutofit/>
          </a:bodyPr>
          <a:lstStyle/>
          <a:p>
            <a:r>
              <a:rPr lang="en-US" sz="4800" b="1" dirty="0" smtClean="0"/>
              <a:t>PRACTICAL NO : 02 (B)</a:t>
            </a:r>
            <a:endParaRPr lang="en-IN" sz="4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4000" b="1" dirty="0" smtClean="0"/>
              <a:t>Formulate computing solution for Transposition Cipher</a:t>
            </a:r>
          </a:p>
          <a:p>
            <a:r>
              <a:rPr lang="en-IN" sz="4000" b="1" dirty="0" smtClean="0"/>
              <a:t>A. Sender’s Side(Encryption) </a:t>
            </a:r>
          </a:p>
          <a:p>
            <a:r>
              <a:rPr lang="en-IN" sz="4000" b="1" dirty="0" smtClean="0"/>
              <a:t>B. Receiver’s Side(Decryption)</a:t>
            </a:r>
            <a:endParaRPr lang="en-IN" sz="4000" b="1" dirty="0"/>
          </a:p>
        </p:txBody>
      </p:sp>
      <p:sp>
        <p:nvSpPr>
          <p:cNvPr id="4" name="Title 1"/>
          <p:cNvSpPr>
            <a:spLocks noGrp="1"/>
          </p:cNvSpPr>
          <p:nvPr>
            <p:ph type="title"/>
          </p:nvPr>
        </p:nvSpPr>
        <p:spPr/>
        <p:txBody>
          <a:bodyPr>
            <a:normAutofit/>
          </a:bodyPr>
          <a:lstStyle/>
          <a:p>
            <a:r>
              <a:rPr lang="en-US" sz="4800" b="1" dirty="0" smtClean="0"/>
              <a:t>PRACTICAL NO : 03</a:t>
            </a:r>
            <a:endParaRPr lang="en-IN" sz="4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86084"/>
            <a:ext cx="8229600" cy="2757494"/>
          </a:xfrm>
        </p:spPr>
        <p:txBody>
          <a:bodyPr anchor="ctr">
            <a:normAutofit/>
          </a:bodyPr>
          <a:lstStyle/>
          <a:p>
            <a:pPr algn="ctr">
              <a:buNone/>
            </a:pPr>
            <a:r>
              <a:rPr lang="en-IN" sz="4400" b="1" dirty="0" smtClean="0"/>
              <a:t>Formulate computing solution for Transposition Cipher for Sender’s Side(Encryption) </a:t>
            </a:r>
          </a:p>
          <a:p>
            <a:pPr algn="ctr"/>
            <a:endParaRPr lang="en-IN" sz="4400" dirty="0"/>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43510"/>
          </a:xfrm>
        </p:spPr>
        <p:txBody>
          <a:bodyPr/>
          <a:lstStyle/>
          <a:p>
            <a:pPr fontAlgn="base">
              <a:buNone/>
            </a:pPr>
            <a:r>
              <a:rPr lang="en-IN" dirty="0" smtClean="0"/>
              <a:t>// C++ program to illustrate Rail Fence Cipher</a:t>
            </a:r>
          </a:p>
          <a:p>
            <a:pPr fontAlgn="base">
              <a:buNone/>
            </a:pPr>
            <a:r>
              <a:rPr lang="en-IN" dirty="0" smtClean="0"/>
              <a:t>// Encryption </a:t>
            </a:r>
          </a:p>
          <a:p>
            <a:pPr>
              <a:buNone/>
            </a:pPr>
            <a:r>
              <a:rPr lang="en-IN" dirty="0" smtClean="0"/>
              <a:t>#include &lt;bits/</a:t>
            </a:r>
            <a:r>
              <a:rPr lang="en-IN" dirty="0" err="1" smtClean="0"/>
              <a:t>stdc</a:t>
            </a:r>
            <a:r>
              <a:rPr lang="en-IN" dirty="0" smtClean="0"/>
              <a:t>++.h&gt;</a:t>
            </a:r>
          </a:p>
          <a:p>
            <a:pPr>
              <a:buNone/>
            </a:pPr>
            <a:r>
              <a:rPr lang="en-IN" dirty="0" smtClean="0"/>
              <a:t>using namespace std;</a:t>
            </a:r>
          </a:p>
          <a:p>
            <a:pPr fontAlgn="base">
              <a:buNone/>
            </a:pPr>
            <a:r>
              <a:rPr lang="en-IN" dirty="0" smtClean="0"/>
              <a:t>// function to encrypt a message</a:t>
            </a:r>
          </a:p>
          <a:p>
            <a:pPr fontAlgn="base">
              <a:buNone/>
            </a:pPr>
            <a:r>
              <a:rPr lang="en-IN" dirty="0" smtClean="0"/>
              <a:t>string </a:t>
            </a:r>
            <a:r>
              <a:rPr lang="en-IN" dirty="0" err="1" smtClean="0"/>
              <a:t>encryptRailFence</a:t>
            </a:r>
            <a:r>
              <a:rPr lang="en-IN" dirty="0" smtClean="0"/>
              <a:t>(string text, </a:t>
            </a:r>
            <a:r>
              <a:rPr lang="en-IN" dirty="0" err="1" smtClean="0"/>
              <a:t>int</a:t>
            </a:r>
            <a:r>
              <a:rPr lang="en-IN" dirty="0" smtClean="0"/>
              <a:t> key)</a:t>
            </a:r>
          </a:p>
          <a:p>
            <a:pPr fontAlgn="base">
              <a:buNone/>
            </a:pPr>
            <a:r>
              <a:rPr lang="en-IN" dirty="0" smtClean="0"/>
              <a:t>{</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85910"/>
            <a:ext cx="8229600" cy="5257800"/>
          </a:xfrm>
        </p:spPr>
        <p:txBody>
          <a:bodyPr>
            <a:noAutofit/>
          </a:bodyPr>
          <a:lstStyle/>
          <a:p>
            <a:pPr fontAlgn="base">
              <a:buNone/>
            </a:pPr>
            <a:r>
              <a:rPr lang="en-IN" dirty="0" smtClean="0"/>
              <a:t>// create the matrix to cipher plain text</a:t>
            </a:r>
          </a:p>
          <a:p>
            <a:pPr fontAlgn="base">
              <a:buNone/>
            </a:pPr>
            <a:r>
              <a:rPr lang="en-IN" dirty="0" smtClean="0"/>
              <a:t>// key = rows , length(text) = columns</a:t>
            </a:r>
          </a:p>
          <a:p>
            <a:pPr fontAlgn="base">
              <a:buNone/>
            </a:pPr>
            <a:r>
              <a:rPr lang="en-IN" dirty="0" smtClean="0"/>
              <a:t>char rail[key][(</a:t>
            </a:r>
            <a:r>
              <a:rPr lang="en-IN" dirty="0" err="1" smtClean="0"/>
              <a:t>text.length</a:t>
            </a:r>
            <a:r>
              <a:rPr lang="en-IN" dirty="0" smtClean="0"/>
              <a:t>())];</a:t>
            </a:r>
          </a:p>
          <a:p>
            <a:pPr fontAlgn="base">
              <a:buNone/>
            </a:pPr>
            <a:r>
              <a:rPr lang="en-IN" dirty="0" smtClean="0"/>
              <a:t>// filling the rail matrix to distinguish filled</a:t>
            </a:r>
          </a:p>
          <a:p>
            <a:pPr fontAlgn="base">
              <a:buNone/>
            </a:pPr>
            <a:r>
              <a:rPr lang="en-IN" dirty="0" smtClean="0"/>
              <a:t>// spaces from blank ones</a:t>
            </a:r>
          </a:p>
          <a:p>
            <a:pPr fontAlgn="base">
              <a:buNone/>
            </a:pPr>
            <a:r>
              <a:rPr lang="en-IN" dirty="0" smtClean="0"/>
              <a:t>for (</a:t>
            </a:r>
            <a:r>
              <a:rPr lang="en-IN" dirty="0" err="1" smtClean="0"/>
              <a:t>int</a:t>
            </a:r>
            <a:r>
              <a:rPr lang="en-IN" dirty="0" smtClean="0"/>
              <a:t> i=0; i &lt; key; i++)</a:t>
            </a:r>
          </a:p>
          <a:p>
            <a:pPr fontAlgn="base">
              <a:buNone/>
            </a:pPr>
            <a:r>
              <a:rPr lang="en-IN" dirty="0" smtClean="0"/>
              <a:t>        for (</a:t>
            </a:r>
            <a:r>
              <a:rPr lang="en-IN" dirty="0" err="1" smtClean="0"/>
              <a:t>int</a:t>
            </a:r>
            <a:r>
              <a:rPr lang="en-IN" dirty="0" smtClean="0"/>
              <a:t> j = 0; j &lt; </a:t>
            </a:r>
            <a:r>
              <a:rPr lang="en-IN" dirty="0" err="1" smtClean="0"/>
              <a:t>text.length</a:t>
            </a:r>
            <a:r>
              <a:rPr lang="en-IN" dirty="0" smtClean="0"/>
              <a:t>(); j++)</a:t>
            </a:r>
          </a:p>
          <a:p>
            <a:pPr fontAlgn="base">
              <a:buNone/>
            </a:pPr>
            <a:r>
              <a:rPr lang="en-IN" dirty="0" smtClean="0"/>
              <a:t>            rail[i][j] = '\n';</a:t>
            </a:r>
          </a:p>
          <a:p>
            <a:pPr fontAlgn="base">
              <a:buNone/>
            </a:pPr>
            <a:r>
              <a:rPr lang="en-IN" dirty="0" smtClean="0"/>
              <a:t> </a:t>
            </a:r>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IN" sz="3600" dirty="0" smtClean="0"/>
              <a:t>// to find the direction</a:t>
            </a:r>
          </a:p>
          <a:p>
            <a:pPr fontAlgn="base">
              <a:buNone/>
            </a:pPr>
            <a:r>
              <a:rPr lang="en-IN" sz="3600" dirty="0" smtClean="0"/>
              <a:t>    </a:t>
            </a:r>
            <a:r>
              <a:rPr lang="en-IN" sz="3600" dirty="0" err="1" smtClean="0"/>
              <a:t>bool</a:t>
            </a:r>
            <a:r>
              <a:rPr lang="en-IN" sz="3600" dirty="0" smtClean="0"/>
              <a:t> </a:t>
            </a:r>
            <a:r>
              <a:rPr lang="en-IN" sz="3600" dirty="0" err="1" smtClean="0"/>
              <a:t>dir_down</a:t>
            </a:r>
            <a:r>
              <a:rPr lang="en-IN" sz="3600" dirty="0" smtClean="0"/>
              <a:t> = false;</a:t>
            </a:r>
          </a:p>
          <a:p>
            <a:pPr fontAlgn="base">
              <a:buNone/>
            </a:pPr>
            <a:r>
              <a:rPr lang="en-IN" sz="3600" dirty="0" smtClean="0"/>
              <a:t>    </a:t>
            </a:r>
            <a:r>
              <a:rPr lang="en-IN" sz="3600" dirty="0" err="1" smtClean="0"/>
              <a:t>int</a:t>
            </a:r>
            <a:r>
              <a:rPr lang="en-IN" sz="3600" dirty="0" smtClean="0"/>
              <a:t> row = 0, </a:t>
            </a:r>
            <a:r>
              <a:rPr lang="en-IN" sz="3600" dirty="0" err="1" smtClean="0"/>
              <a:t>col</a:t>
            </a:r>
            <a:r>
              <a:rPr lang="en-IN" sz="3600" dirty="0" smtClean="0"/>
              <a:t> = 0;</a:t>
            </a:r>
          </a:p>
          <a:p>
            <a:pPr fontAlgn="base">
              <a:buNone/>
            </a:pPr>
            <a:r>
              <a:rPr lang="en-IN" sz="3600" dirty="0" smtClean="0"/>
              <a:t> </a:t>
            </a:r>
          </a:p>
          <a:p>
            <a:pPr fontAlgn="base">
              <a:buNone/>
            </a:pPr>
            <a:r>
              <a:rPr lang="en-IN" sz="3600" dirty="0" smtClean="0"/>
              <a:t>    for (</a:t>
            </a:r>
            <a:r>
              <a:rPr lang="en-IN" sz="3600" dirty="0" err="1" smtClean="0"/>
              <a:t>int</a:t>
            </a:r>
            <a:r>
              <a:rPr lang="en-IN" sz="3600" dirty="0" smtClean="0"/>
              <a:t> i=0; i &lt; </a:t>
            </a:r>
            <a:r>
              <a:rPr lang="en-IN" sz="3600" dirty="0" err="1" smtClean="0"/>
              <a:t>text.length</a:t>
            </a:r>
            <a:r>
              <a:rPr lang="en-IN" sz="3600" dirty="0" smtClean="0"/>
              <a:t>(); i++)</a:t>
            </a:r>
          </a:p>
          <a:p>
            <a:pPr fontAlgn="base">
              <a:buNone/>
            </a:pPr>
            <a:r>
              <a:rPr lang="en-IN" sz="3600" dirty="0" smtClean="0"/>
              <a:t>    {</a:t>
            </a:r>
          </a:p>
          <a:p>
            <a:pPr>
              <a:buNone/>
            </a:pPr>
            <a:endParaRPr lang="en-IN" sz="3600" dirty="0"/>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72072"/>
          </a:xfrm>
        </p:spPr>
        <p:txBody>
          <a:bodyPr/>
          <a:lstStyle/>
          <a:p>
            <a:pPr marL="0" indent="0" fontAlgn="base">
              <a:buNone/>
            </a:pPr>
            <a:r>
              <a:rPr lang="en-IN" dirty="0" smtClean="0"/>
              <a:t>// check the direction of flow</a:t>
            </a:r>
          </a:p>
          <a:p>
            <a:pPr fontAlgn="base">
              <a:buNone/>
            </a:pPr>
            <a:r>
              <a:rPr lang="en-IN" dirty="0" smtClean="0"/>
              <a:t>        // reverse the direction if we've just</a:t>
            </a:r>
          </a:p>
          <a:p>
            <a:pPr fontAlgn="base">
              <a:buNone/>
            </a:pPr>
            <a:r>
              <a:rPr lang="en-IN" dirty="0" smtClean="0"/>
              <a:t>        // filled the top or bottom rail</a:t>
            </a:r>
          </a:p>
          <a:p>
            <a:pPr fontAlgn="base">
              <a:buNone/>
            </a:pPr>
            <a:r>
              <a:rPr lang="en-IN" dirty="0" smtClean="0"/>
              <a:t>        if (row == 0 || row == key-1)</a:t>
            </a:r>
          </a:p>
          <a:p>
            <a:pPr fontAlgn="base">
              <a:buNone/>
            </a:pPr>
            <a:r>
              <a:rPr lang="en-IN" dirty="0" smtClean="0"/>
              <a:t>            </a:t>
            </a:r>
            <a:r>
              <a:rPr lang="en-IN" dirty="0" err="1" smtClean="0"/>
              <a:t>dir_down</a:t>
            </a:r>
            <a:r>
              <a:rPr lang="en-IN" dirty="0" smtClean="0"/>
              <a:t> = !</a:t>
            </a:r>
            <a:r>
              <a:rPr lang="en-IN" dirty="0" err="1" smtClean="0"/>
              <a:t>dir_down</a:t>
            </a:r>
            <a:r>
              <a:rPr lang="en-IN" dirty="0" smtClean="0"/>
              <a:t>;</a:t>
            </a:r>
          </a:p>
          <a:p>
            <a:pPr fontAlgn="base">
              <a:buNone/>
            </a:pPr>
            <a:r>
              <a:rPr lang="en-IN" dirty="0" smtClean="0"/>
              <a:t>// fill the corresponding alphabet</a:t>
            </a:r>
          </a:p>
          <a:p>
            <a:pPr fontAlgn="base">
              <a:buNone/>
            </a:pPr>
            <a:r>
              <a:rPr lang="en-IN" dirty="0" smtClean="0"/>
              <a:t>        rail[row][</a:t>
            </a:r>
            <a:r>
              <a:rPr lang="en-IN" dirty="0" err="1" smtClean="0"/>
              <a:t>col</a:t>
            </a:r>
            <a:r>
              <a:rPr lang="en-IN" dirty="0" smtClean="0"/>
              <a:t>++] = text[i];</a:t>
            </a:r>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7298"/>
            <a:ext cx="8229600" cy="5286412"/>
          </a:xfrm>
        </p:spPr>
        <p:txBody>
          <a:bodyPr>
            <a:normAutofit fontScale="85000" lnSpcReduction="20000"/>
          </a:bodyPr>
          <a:lstStyle/>
          <a:p>
            <a:pPr fontAlgn="base">
              <a:buNone/>
            </a:pPr>
            <a:r>
              <a:rPr lang="en-IN" dirty="0" smtClean="0"/>
              <a:t>// find the next row using direction flag</a:t>
            </a:r>
          </a:p>
          <a:p>
            <a:pPr fontAlgn="base">
              <a:buNone/>
            </a:pPr>
            <a:r>
              <a:rPr lang="en-IN" dirty="0" smtClean="0"/>
              <a:t>        </a:t>
            </a:r>
            <a:r>
              <a:rPr lang="en-IN" dirty="0" err="1" smtClean="0"/>
              <a:t>dir_down?row</a:t>
            </a:r>
            <a:r>
              <a:rPr lang="en-IN" dirty="0" smtClean="0"/>
              <a:t>++ : row--;</a:t>
            </a:r>
          </a:p>
          <a:p>
            <a:pPr fontAlgn="base">
              <a:buNone/>
            </a:pPr>
            <a:r>
              <a:rPr lang="en-IN" dirty="0" smtClean="0"/>
              <a:t>    }</a:t>
            </a:r>
          </a:p>
          <a:p>
            <a:pPr fontAlgn="base">
              <a:buNone/>
            </a:pPr>
            <a:r>
              <a:rPr lang="en-IN" dirty="0" smtClean="0"/>
              <a:t>//now we can construct the cipher using the rail matrix</a:t>
            </a:r>
          </a:p>
          <a:p>
            <a:pPr fontAlgn="base">
              <a:buNone/>
            </a:pPr>
            <a:r>
              <a:rPr lang="en-IN" dirty="0" smtClean="0"/>
              <a:t>    string result;</a:t>
            </a:r>
          </a:p>
          <a:p>
            <a:pPr fontAlgn="base">
              <a:buNone/>
            </a:pPr>
            <a:r>
              <a:rPr lang="en-IN" dirty="0" smtClean="0"/>
              <a:t>    for (</a:t>
            </a:r>
            <a:r>
              <a:rPr lang="en-IN" dirty="0" err="1" smtClean="0"/>
              <a:t>int</a:t>
            </a:r>
            <a:r>
              <a:rPr lang="en-IN" dirty="0" smtClean="0"/>
              <a:t> i=0; i &lt; key; i++)</a:t>
            </a:r>
          </a:p>
          <a:p>
            <a:pPr fontAlgn="base">
              <a:buNone/>
            </a:pPr>
            <a:r>
              <a:rPr lang="en-IN" dirty="0" smtClean="0"/>
              <a:t>        for (</a:t>
            </a:r>
            <a:r>
              <a:rPr lang="en-IN" dirty="0" err="1" smtClean="0"/>
              <a:t>int</a:t>
            </a:r>
            <a:r>
              <a:rPr lang="en-IN" dirty="0" smtClean="0"/>
              <a:t> j=0; j &lt; </a:t>
            </a:r>
            <a:r>
              <a:rPr lang="en-IN" dirty="0" err="1" smtClean="0"/>
              <a:t>text.length</a:t>
            </a:r>
            <a:r>
              <a:rPr lang="en-IN" dirty="0" smtClean="0"/>
              <a:t>(); j++)</a:t>
            </a:r>
          </a:p>
          <a:p>
            <a:pPr fontAlgn="base">
              <a:buNone/>
            </a:pPr>
            <a:r>
              <a:rPr lang="en-IN" dirty="0" smtClean="0"/>
              <a:t>            if (rail[i][j]!='\n')</a:t>
            </a:r>
          </a:p>
          <a:p>
            <a:pPr fontAlgn="base">
              <a:buNone/>
            </a:pPr>
            <a:r>
              <a:rPr lang="en-IN" dirty="0" smtClean="0"/>
              <a:t>                </a:t>
            </a:r>
            <a:r>
              <a:rPr lang="en-IN" dirty="0" err="1" smtClean="0"/>
              <a:t>result.push_back</a:t>
            </a:r>
            <a:r>
              <a:rPr lang="en-IN" dirty="0" smtClean="0"/>
              <a:t>(rail[i][j]);</a:t>
            </a:r>
          </a:p>
          <a:p>
            <a:pPr fontAlgn="base">
              <a:buNone/>
            </a:pPr>
            <a:r>
              <a:rPr lang="en-IN" dirty="0" smtClean="0"/>
              <a:t> </a:t>
            </a:r>
          </a:p>
          <a:p>
            <a:pPr fontAlgn="base">
              <a:buNone/>
            </a:pPr>
            <a:r>
              <a:rPr lang="en-IN" dirty="0" smtClean="0"/>
              <a:t>    return result;</a:t>
            </a:r>
          </a:p>
          <a:p>
            <a:pPr fontAlgn="base">
              <a:buNone/>
            </a:pPr>
            <a:r>
              <a:rPr lang="en-IN" dirty="0" smtClean="0"/>
              <a:t>}</a:t>
            </a:r>
          </a:p>
        </p:txBody>
      </p:sp>
      <p:sp>
        <p:nvSpPr>
          <p:cNvPr id="4" name="Title 1"/>
          <p:cNvSpPr>
            <a:spLocks noGrp="1"/>
          </p:cNvSpPr>
          <p:nvPr>
            <p:ph type="title"/>
          </p:nvPr>
        </p:nvSpPr>
        <p:spPr/>
        <p:txBody>
          <a:bodyPr>
            <a:normAutofit/>
          </a:bodyPr>
          <a:lstStyle/>
          <a:p>
            <a:r>
              <a:rPr lang="en-US" sz="4800" b="1" dirty="0" smtClean="0"/>
              <a:t>PRACTICAL NO : 03(A)</a:t>
            </a:r>
            <a:endParaRPr lang="en-IN" sz="4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Conclusion :</a:t>
            </a:r>
          </a:p>
          <a:p>
            <a:r>
              <a:rPr lang="en-US" dirty="0" smtClean="0"/>
              <a:t>The Encryption feature of Rail fence transposition cipher is studied through this experiment.</a:t>
            </a:r>
            <a:endParaRPr lang="en-IN" dirty="0" smtClean="0"/>
          </a:p>
          <a:p>
            <a:endParaRPr lang="en-US" dirty="0" smtClean="0"/>
          </a:p>
          <a:p>
            <a:endParaRPr lang="en-IN"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86084"/>
            <a:ext cx="8229600" cy="2757494"/>
          </a:xfrm>
        </p:spPr>
        <p:txBody>
          <a:bodyPr anchor="ctr">
            <a:normAutofit/>
          </a:bodyPr>
          <a:lstStyle/>
          <a:p>
            <a:pPr algn="ctr">
              <a:buNone/>
            </a:pPr>
            <a:r>
              <a:rPr lang="en-IN" sz="4400" b="1" dirty="0" smtClean="0"/>
              <a:t>Formulate computing solution for Transposition Cipher for Receiver’s Side(Decryption) </a:t>
            </a:r>
          </a:p>
          <a:p>
            <a:pPr algn="ctr"/>
            <a:endParaRPr lang="en-IN" sz="4400"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None/>
            </a:pPr>
            <a:r>
              <a:rPr lang="en-IN" sz="2800" dirty="0" smtClean="0"/>
              <a:t>// This function receives cipher-text and key</a:t>
            </a:r>
          </a:p>
          <a:p>
            <a:pPr>
              <a:buNone/>
            </a:pPr>
            <a:r>
              <a:rPr lang="en-IN" sz="2800" dirty="0" smtClean="0"/>
              <a:t>// and returns the original text after decryption</a:t>
            </a:r>
          </a:p>
          <a:p>
            <a:pPr fontAlgn="base">
              <a:buNone/>
            </a:pPr>
            <a:endParaRPr lang="en-IN" sz="2800" dirty="0" smtClean="0"/>
          </a:p>
          <a:p>
            <a:pPr fontAlgn="base">
              <a:buNone/>
            </a:pPr>
            <a:r>
              <a:rPr lang="en-IN" sz="2800" dirty="0" smtClean="0"/>
              <a:t>string </a:t>
            </a:r>
            <a:r>
              <a:rPr lang="en-IN" sz="2800" dirty="0" err="1" smtClean="0"/>
              <a:t>decryptRailFence</a:t>
            </a:r>
            <a:r>
              <a:rPr lang="en-IN" sz="2800" dirty="0" smtClean="0"/>
              <a:t>(string cipher, </a:t>
            </a:r>
            <a:r>
              <a:rPr lang="en-IN" sz="2800" dirty="0" err="1" smtClean="0"/>
              <a:t>int</a:t>
            </a:r>
            <a:r>
              <a:rPr lang="en-IN" sz="2800" dirty="0" smtClean="0"/>
              <a:t> key)</a:t>
            </a:r>
          </a:p>
          <a:p>
            <a:pPr fontAlgn="base">
              <a:buNone/>
            </a:pPr>
            <a:r>
              <a:rPr lang="en-IN" sz="2800" dirty="0" smtClean="0"/>
              <a:t>{</a:t>
            </a:r>
          </a:p>
          <a:p>
            <a:pPr fontAlgn="base">
              <a:buNone/>
            </a:pPr>
            <a:r>
              <a:rPr lang="en-IN" sz="2800" dirty="0" smtClean="0"/>
              <a:t>    // create the matrix to cipher plain text</a:t>
            </a:r>
          </a:p>
          <a:p>
            <a:pPr fontAlgn="base">
              <a:buNone/>
            </a:pPr>
            <a:r>
              <a:rPr lang="en-IN" sz="2800" dirty="0" smtClean="0"/>
              <a:t>    // key = rows , length(text) = columns</a:t>
            </a:r>
          </a:p>
          <a:p>
            <a:pPr fontAlgn="base">
              <a:buNone/>
            </a:pPr>
            <a:r>
              <a:rPr lang="en-IN" sz="2800" dirty="0" smtClean="0"/>
              <a:t>    char rail[key][</a:t>
            </a:r>
            <a:r>
              <a:rPr lang="en-IN" sz="2800" dirty="0" err="1" smtClean="0"/>
              <a:t>cipher.length</a:t>
            </a:r>
            <a:r>
              <a:rPr lang="en-IN" sz="2800" dirty="0" smtClean="0"/>
              <a:t>()];</a:t>
            </a:r>
          </a:p>
          <a:p>
            <a:pPr fontAlgn="base">
              <a:buNone/>
            </a:pPr>
            <a:r>
              <a:rPr lang="en-IN" sz="2800" dirty="0" smtClean="0"/>
              <a:t> </a:t>
            </a:r>
          </a:p>
          <a:p>
            <a:pPr fontAlgn="base">
              <a:buNone/>
            </a:pPr>
            <a:r>
              <a:rPr lang="en-IN" sz="2800" dirty="0" smtClean="0"/>
              <a:t>     </a:t>
            </a:r>
          </a:p>
          <a:p>
            <a:pPr>
              <a:buNone/>
            </a:pPr>
            <a:endParaRPr lang="en-IN" sz="2800"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IN" sz="3600" dirty="0" smtClean="0"/>
              <a:t>// filling the rail matrix to distinguish filled</a:t>
            </a:r>
          </a:p>
          <a:p>
            <a:pPr fontAlgn="base">
              <a:buNone/>
            </a:pPr>
            <a:r>
              <a:rPr lang="en-IN" sz="3600" dirty="0" smtClean="0"/>
              <a:t>    // spaces from blank ones</a:t>
            </a:r>
          </a:p>
          <a:p>
            <a:pPr fontAlgn="base">
              <a:buNone/>
            </a:pPr>
            <a:r>
              <a:rPr lang="en-IN" sz="3600" dirty="0" smtClean="0"/>
              <a:t>    for (</a:t>
            </a:r>
            <a:r>
              <a:rPr lang="en-IN" sz="3600" dirty="0" err="1" smtClean="0"/>
              <a:t>int</a:t>
            </a:r>
            <a:r>
              <a:rPr lang="en-IN" sz="3600" dirty="0" smtClean="0"/>
              <a:t> i=0; i &lt; key; i++)</a:t>
            </a:r>
          </a:p>
          <a:p>
            <a:pPr fontAlgn="base">
              <a:buNone/>
            </a:pPr>
            <a:r>
              <a:rPr lang="en-IN" sz="3600" dirty="0" smtClean="0"/>
              <a:t>        for (</a:t>
            </a:r>
            <a:r>
              <a:rPr lang="en-IN" sz="3600" dirty="0" err="1" smtClean="0"/>
              <a:t>int</a:t>
            </a:r>
            <a:r>
              <a:rPr lang="en-IN" sz="3600" dirty="0" smtClean="0"/>
              <a:t> j=0; j &lt; </a:t>
            </a:r>
            <a:r>
              <a:rPr lang="en-IN" sz="3600" dirty="0" err="1" smtClean="0"/>
              <a:t>cipher.length</a:t>
            </a:r>
            <a:r>
              <a:rPr lang="en-IN" sz="3600" dirty="0" smtClean="0"/>
              <a:t>(); j++)</a:t>
            </a:r>
          </a:p>
          <a:p>
            <a:pPr fontAlgn="base">
              <a:buNone/>
            </a:pPr>
            <a:r>
              <a:rPr lang="en-IN" sz="3600" dirty="0" smtClean="0"/>
              <a:t>            rail[i][j] = '\n';</a:t>
            </a:r>
          </a:p>
          <a:p>
            <a:endParaRPr lang="en-IN" sz="3600"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to find the direction</a:t>
            </a:r>
          </a:p>
          <a:p>
            <a:pPr fontAlgn="base">
              <a:buNone/>
            </a:pPr>
            <a:r>
              <a:rPr lang="en-IN" dirty="0" smtClean="0"/>
              <a:t>    </a:t>
            </a:r>
            <a:r>
              <a:rPr lang="en-IN" dirty="0" err="1" smtClean="0"/>
              <a:t>bool</a:t>
            </a:r>
            <a:r>
              <a:rPr lang="en-IN" dirty="0" smtClean="0"/>
              <a:t> </a:t>
            </a:r>
            <a:r>
              <a:rPr lang="en-IN" dirty="0" err="1" smtClean="0"/>
              <a:t>dir_down</a:t>
            </a:r>
            <a:r>
              <a:rPr lang="en-IN" dirty="0" smtClean="0"/>
              <a:t>;</a:t>
            </a:r>
          </a:p>
          <a:p>
            <a:pPr fontAlgn="base">
              <a:buNone/>
            </a:pPr>
            <a:r>
              <a:rPr lang="en-IN" dirty="0" smtClean="0"/>
              <a:t> </a:t>
            </a:r>
          </a:p>
          <a:p>
            <a:pPr fontAlgn="base">
              <a:buNone/>
            </a:pPr>
            <a:r>
              <a:rPr lang="en-IN" dirty="0" smtClean="0"/>
              <a:t>    </a:t>
            </a:r>
            <a:r>
              <a:rPr lang="en-IN" dirty="0" err="1" smtClean="0"/>
              <a:t>int</a:t>
            </a:r>
            <a:r>
              <a:rPr lang="en-IN" dirty="0" smtClean="0"/>
              <a:t> row = 0, </a:t>
            </a:r>
            <a:r>
              <a:rPr lang="en-IN" dirty="0" err="1" smtClean="0"/>
              <a:t>col</a:t>
            </a:r>
            <a:r>
              <a:rPr lang="en-IN" dirty="0" smtClean="0"/>
              <a:t> = 0;</a:t>
            </a:r>
          </a:p>
          <a:p>
            <a:pPr fontAlgn="base">
              <a:buNone/>
            </a:pPr>
            <a:r>
              <a:rPr lang="en-IN" dirty="0" smtClean="0"/>
              <a:t>// mark the places with '*'</a:t>
            </a:r>
          </a:p>
          <a:p>
            <a:pPr fontAlgn="base">
              <a:buNone/>
            </a:pPr>
            <a:r>
              <a:rPr lang="en-IN" dirty="0" smtClean="0"/>
              <a:t>    for (</a:t>
            </a:r>
            <a:r>
              <a:rPr lang="en-IN" dirty="0" err="1" smtClean="0"/>
              <a:t>int</a:t>
            </a:r>
            <a:r>
              <a:rPr lang="en-IN" dirty="0" smtClean="0"/>
              <a:t> i=0; i &lt; </a:t>
            </a:r>
            <a:r>
              <a:rPr lang="en-IN" dirty="0" err="1" smtClean="0"/>
              <a:t>cipher.length</a:t>
            </a:r>
            <a:r>
              <a:rPr lang="en-IN" dirty="0" smtClean="0"/>
              <a:t>(); i++)</a:t>
            </a:r>
          </a:p>
          <a:p>
            <a:pPr fontAlgn="base">
              <a:buNone/>
            </a:pPr>
            <a:r>
              <a:rPr lang="en-IN" dirty="0" smtClean="0"/>
              <a:t>    {</a:t>
            </a:r>
          </a:p>
          <a:p>
            <a:pPr fontAlgn="base">
              <a:buNone/>
            </a:pPr>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check the direction of flow</a:t>
            </a:r>
          </a:p>
          <a:p>
            <a:pPr fontAlgn="base">
              <a:buNone/>
            </a:pPr>
            <a:r>
              <a:rPr lang="en-IN" dirty="0" smtClean="0"/>
              <a:t>        if (row == 0)</a:t>
            </a:r>
          </a:p>
          <a:p>
            <a:pPr fontAlgn="base">
              <a:buNone/>
            </a:pPr>
            <a:r>
              <a:rPr lang="en-IN" dirty="0" smtClean="0"/>
              <a:t>            </a:t>
            </a:r>
            <a:r>
              <a:rPr lang="en-IN" dirty="0" err="1" smtClean="0"/>
              <a:t>dir_down</a:t>
            </a:r>
            <a:r>
              <a:rPr lang="en-IN" dirty="0" smtClean="0"/>
              <a:t> = true;</a:t>
            </a:r>
          </a:p>
          <a:p>
            <a:pPr fontAlgn="base">
              <a:buNone/>
            </a:pPr>
            <a:r>
              <a:rPr lang="en-IN" dirty="0" smtClean="0"/>
              <a:t>        if (row == key-1)</a:t>
            </a:r>
          </a:p>
          <a:p>
            <a:pPr fontAlgn="base">
              <a:buNone/>
            </a:pPr>
            <a:r>
              <a:rPr lang="en-IN" dirty="0" smtClean="0"/>
              <a:t>            </a:t>
            </a:r>
            <a:r>
              <a:rPr lang="en-IN" dirty="0" err="1" smtClean="0"/>
              <a:t>dir_down</a:t>
            </a:r>
            <a:r>
              <a:rPr lang="en-IN" dirty="0" smtClean="0"/>
              <a:t> = false;</a:t>
            </a:r>
          </a:p>
          <a:p>
            <a:pPr fontAlgn="base">
              <a:buNone/>
            </a:pPr>
            <a:r>
              <a:rPr lang="en-IN" dirty="0" smtClean="0"/>
              <a:t>// place the marker</a:t>
            </a:r>
          </a:p>
          <a:p>
            <a:pPr fontAlgn="base">
              <a:buNone/>
            </a:pPr>
            <a:r>
              <a:rPr lang="en-IN" dirty="0" smtClean="0"/>
              <a:t>        rail[row][</a:t>
            </a:r>
            <a:r>
              <a:rPr lang="en-IN" dirty="0" err="1" smtClean="0"/>
              <a:t>col</a:t>
            </a:r>
            <a:r>
              <a:rPr lang="en-IN" dirty="0" smtClean="0"/>
              <a:t>++] = '*';</a:t>
            </a:r>
          </a:p>
          <a:p>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72072"/>
          </a:xfrm>
        </p:spPr>
        <p:txBody>
          <a:bodyPr>
            <a:normAutofit fontScale="92500"/>
          </a:bodyPr>
          <a:lstStyle/>
          <a:p>
            <a:pPr fontAlgn="base">
              <a:buNone/>
            </a:pPr>
            <a:r>
              <a:rPr lang="en-IN" dirty="0" smtClean="0"/>
              <a:t>// find the next row using direction flag</a:t>
            </a:r>
          </a:p>
          <a:p>
            <a:pPr fontAlgn="base">
              <a:buNone/>
            </a:pPr>
            <a:r>
              <a:rPr lang="en-IN" dirty="0" smtClean="0"/>
              <a:t>        </a:t>
            </a:r>
            <a:r>
              <a:rPr lang="en-IN" dirty="0" err="1" smtClean="0"/>
              <a:t>dir_down?row</a:t>
            </a:r>
            <a:r>
              <a:rPr lang="en-IN" dirty="0" smtClean="0"/>
              <a:t>++ : row--;</a:t>
            </a:r>
          </a:p>
          <a:p>
            <a:pPr>
              <a:buNone/>
            </a:pPr>
            <a:r>
              <a:rPr lang="en-IN" dirty="0" smtClean="0"/>
              <a:t>}</a:t>
            </a:r>
          </a:p>
          <a:p>
            <a:pPr fontAlgn="base">
              <a:buNone/>
            </a:pPr>
            <a:r>
              <a:rPr lang="en-IN" dirty="0" smtClean="0"/>
              <a:t>// now we can construct the fill the rail matrix</a:t>
            </a:r>
          </a:p>
          <a:p>
            <a:pPr fontAlgn="base">
              <a:buNone/>
            </a:pPr>
            <a:r>
              <a:rPr lang="en-IN" dirty="0" smtClean="0"/>
              <a:t>    </a:t>
            </a:r>
            <a:r>
              <a:rPr lang="en-IN" dirty="0" err="1" smtClean="0"/>
              <a:t>int</a:t>
            </a:r>
            <a:r>
              <a:rPr lang="en-IN" dirty="0" smtClean="0"/>
              <a:t> index = 0;</a:t>
            </a:r>
          </a:p>
          <a:p>
            <a:pPr fontAlgn="base">
              <a:buNone/>
            </a:pPr>
            <a:r>
              <a:rPr lang="en-IN" dirty="0" smtClean="0"/>
              <a:t>    for (</a:t>
            </a:r>
            <a:r>
              <a:rPr lang="en-IN" dirty="0" err="1" smtClean="0"/>
              <a:t>int</a:t>
            </a:r>
            <a:r>
              <a:rPr lang="en-IN" dirty="0" smtClean="0"/>
              <a:t> i=0; i&lt;key; i++)</a:t>
            </a:r>
          </a:p>
          <a:p>
            <a:pPr fontAlgn="base">
              <a:buNone/>
            </a:pPr>
            <a:r>
              <a:rPr lang="en-IN" dirty="0" smtClean="0"/>
              <a:t>        for (</a:t>
            </a:r>
            <a:r>
              <a:rPr lang="en-IN" dirty="0" err="1" smtClean="0"/>
              <a:t>int</a:t>
            </a:r>
            <a:r>
              <a:rPr lang="en-IN" dirty="0" smtClean="0"/>
              <a:t> j=0; j&lt;</a:t>
            </a:r>
            <a:r>
              <a:rPr lang="en-IN" dirty="0" err="1" smtClean="0"/>
              <a:t>cipher.length</a:t>
            </a:r>
            <a:r>
              <a:rPr lang="en-IN" dirty="0" smtClean="0"/>
              <a:t>(); j++)</a:t>
            </a:r>
          </a:p>
          <a:p>
            <a:pPr fontAlgn="base">
              <a:buNone/>
            </a:pPr>
            <a:r>
              <a:rPr lang="en-IN" dirty="0" smtClean="0"/>
              <a:t>            if (rail[i][j] == '*' &amp;&amp; index&lt;</a:t>
            </a:r>
            <a:r>
              <a:rPr lang="en-IN" dirty="0" err="1" smtClean="0"/>
              <a:t>cipher.length</a:t>
            </a:r>
            <a:r>
              <a:rPr lang="en-IN" dirty="0" smtClean="0"/>
              <a:t>())</a:t>
            </a:r>
          </a:p>
          <a:p>
            <a:pPr fontAlgn="base">
              <a:buNone/>
            </a:pPr>
            <a:r>
              <a:rPr lang="en-IN" dirty="0" smtClean="0"/>
              <a:t>                rail[i][j] = cipher[index++];</a:t>
            </a:r>
          </a:p>
          <a:p>
            <a:pPr fontAlgn="base">
              <a:buNone/>
            </a:pPr>
            <a:endParaRPr lang="en-IN" dirty="0" smtClean="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base">
              <a:buNone/>
            </a:pPr>
            <a:r>
              <a:rPr lang="en-IN" dirty="0" smtClean="0"/>
              <a:t>// now read the matrix in </a:t>
            </a:r>
            <a:r>
              <a:rPr lang="en-IN" dirty="0" err="1" smtClean="0"/>
              <a:t>zig-zag</a:t>
            </a:r>
            <a:r>
              <a:rPr lang="en-IN" dirty="0" smtClean="0"/>
              <a:t> manner to construct the resultant text</a:t>
            </a:r>
          </a:p>
          <a:p>
            <a:pPr fontAlgn="base">
              <a:buNone/>
            </a:pPr>
            <a:r>
              <a:rPr lang="en-IN" dirty="0" smtClean="0"/>
              <a:t>    string result;</a:t>
            </a:r>
          </a:p>
          <a:p>
            <a:pPr fontAlgn="base">
              <a:buNone/>
            </a:pPr>
            <a:r>
              <a:rPr lang="en-IN" dirty="0" smtClean="0"/>
              <a:t> </a:t>
            </a:r>
          </a:p>
          <a:p>
            <a:pPr fontAlgn="base">
              <a:buNone/>
            </a:pPr>
            <a:r>
              <a:rPr lang="en-IN" dirty="0" smtClean="0"/>
              <a:t>    row = 0, </a:t>
            </a:r>
            <a:r>
              <a:rPr lang="en-IN" dirty="0" err="1" smtClean="0"/>
              <a:t>col</a:t>
            </a:r>
            <a:r>
              <a:rPr lang="en-IN" dirty="0" smtClean="0"/>
              <a:t> = 0;</a:t>
            </a:r>
          </a:p>
          <a:p>
            <a:pPr fontAlgn="base">
              <a:buNone/>
            </a:pPr>
            <a:r>
              <a:rPr lang="en-IN" dirty="0" smtClean="0"/>
              <a:t>    for (</a:t>
            </a:r>
            <a:r>
              <a:rPr lang="en-IN" dirty="0" err="1" smtClean="0"/>
              <a:t>int</a:t>
            </a:r>
            <a:r>
              <a:rPr lang="en-IN" dirty="0" smtClean="0"/>
              <a:t> i=0; i&lt; </a:t>
            </a:r>
            <a:r>
              <a:rPr lang="en-IN" dirty="0" err="1" smtClean="0"/>
              <a:t>cipher.length</a:t>
            </a:r>
            <a:r>
              <a:rPr lang="en-IN" dirty="0" smtClean="0"/>
              <a:t>(); i++)</a:t>
            </a:r>
          </a:p>
          <a:p>
            <a:pPr fontAlgn="base">
              <a:buNone/>
            </a:pPr>
            <a:r>
              <a:rPr lang="en-IN" dirty="0" smtClean="0"/>
              <a:t>    {</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buNone/>
            </a:pPr>
            <a:r>
              <a:rPr lang="en-IN" dirty="0" smtClean="0"/>
              <a:t>// check the direction of flow</a:t>
            </a:r>
          </a:p>
          <a:p>
            <a:pPr fontAlgn="base">
              <a:buNone/>
            </a:pPr>
            <a:r>
              <a:rPr lang="en-IN" dirty="0" smtClean="0"/>
              <a:t>        if (row == 0)</a:t>
            </a:r>
          </a:p>
          <a:p>
            <a:pPr fontAlgn="base">
              <a:buNone/>
            </a:pPr>
            <a:r>
              <a:rPr lang="en-IN" dirty="0" smtClean="0"/>
              <a:t>            </a:t>
            </a:r>
            <a:r>
              <a:rPr lang="en-IN" dirty="0" err="1" smtClean="0"/>
              <a:t>dir_down</a:t>
            </a:r>
            <a:r>
              <a:rPr lang="en-IN" dirty="0" smtClean="0"/>
              <a:t> = true;</a:t>
            </a:r>
          </a:p>
          <a:p>
            <a:pPr fontAlgn="base">
              <a:buNone/>
            </a:pPr>
            <a:r>
              <a:rPr lang="en-IN" dirty="0" smtClean="0"/>
              <a:t>        if (row == key-1)</a:t>
            </a:r>
          </a:p>
          <a:p>
            <a:pPr fontAlgn="base">
              <a:buNone/>
            </a:pPr>
            <a:r>
              <a:rPr lang="en-IN" dirty="0" smtClean="0"/>
              <a:t>            </a:t>
            </a:r>
            <a:r>
              <a:rPr lang="en-IN" dirty="0" err="1" smtClean="0"/>
              <a:t>dir_down</a:t>
            </a:r>
            <a:r>
              <a:rPr lang="en-IN" dirty="0" smtClean="0"/>
              <a:t> = false;</a:t>
            </a:r>
          </a:p>
          <a:p>
            <a:pPr fontAlgn="base">
              <a:buNone/>
            </a:pPr>
            <a:r>
              <a:rPr lang="en-IN" dirty="0" smtClean="0"/>
              <a:t>// place the marker</a:t>
            </a:r>
          </a:p>
          <a:p>
            <a:pPr fontAlgn="base">
              <a:buNone/>
            </a:pPr>
            <a:r>
              <a:rPr lang="en-IN" dirty="0" smtClean="0"/>
              <a:t>        if (rail[row][</a:t>
            </a:r>
            <a:r>
              <a:rPr lang="en-IN" dirty="0" err="1" smtClean="0"/>
              <a:t>col</a:t>
            </a:r>
            <a:r>
              <a:rPr lang="en-IN" dirty="0" smtClean="0"/>
              <a:t>] != '*')</a:t>
            </a:r>
          </a:p>
          <a:p>
            <a:pPr fontAlgn="base">
              <a:buNone/>
            </a:pPr>
            <a:r>
              <a:rPr lang="en-IN" dirty="0" smtClean="0"/>
              <a:t>            </a:t>
            </a:r>
            <a:r>
              <a:rPr lang="en-IN" dirty="0" err="1" smtClean="0"/>
              <a:t>result.push_back</a:t>
            </a:r>
            <a:r>
              <a:rPr lang="en-IN" dirty="0" smtClean="0"/>
              <a:t>(rail[row][</a:t>
            </a:r>
            <a:r>
              <a:rPr lang="en-IN" dirty="0" err="1" smtClean="0"/>
              <a:t>col</a:t>
            </a:r>
            <a:r>
              <a:rPr lang="en-IN" dirty="0" smtClean="0"/>
              <a:t>++]);</a:t>
            </a:r>
          </a:p>
          <a:p>
            <a:pPr fontAlgn="base">
              <a:buNone/>
            </a:pPr>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find the next row using direction flag</a:t>
            </a:r>
          </a:p>
          <a:p>
            <a:pPr fontAlgn="base">
              <a:buNone/>
            </a:pPr>
            <a:r>
              <a:rPr lang="en-IN" dirty="0" smtClean="0"/>
              <a:t>        </a:t>
            </a:r>
            <a:r>
              <a:rPr lang="en-IN" dirty="0" err="1" smtClean="0"/>
              <a:t>dir_down?row</a:t>
            </a:r>
            <a:r>
              <a:rPr lang="en-IN" dirty="0" smtClean="0"/>
              <a:t>++: row--;</a:t>
            </a:r>
          </a:p>
          <a:p>
            <a:pPr fontAlgn="base">
              <a:buNone/>
            </a:pPr>
            <a:r>
              <a:rPr lang="en-IN" dirty="0" smtClean="0"/>
              <a:t>    }</a:t>
            </a:r>
          </a:p>
          <a:p>
            <a:pPr fontAlgn="base">
              <a:buNone/>
            </a:pPr>
            <a:r>
              <a:rPr lang="en-IN" dirty="0" smtClean="0"/>
              <a:t>    return result;</a:t>
            </a:r>
          </a:p>
          <a:p>
            <a:pPr fontAlgn="base">
              <a:buNone/>
            </a:pPr>
            <a:r>
              <a:rPr lang="en-IN" dirty="0" smtClean="0"/>
              <a:t>}</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CONCLUSION</a:t>
            </a:r>
            <a:r>
              <a:rPr lang="en-US" dirty="0" smtClean="0"/>
              <a:t> :</a:t>
            </a:r>
          </a:p>
          <a:p>
            <a:r>
              <a:rPr lang="en-US" dirty="0" smtClean="0"/>
              <a:t>The Decryption feature of Rail fence transposition cipher is studied through this experiment.</a:t>
            </a:r>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03(B)</a:t>
            </a:r>
            <a:endParaRPr lang="en-IN" sz="48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2071678"/>
            <a:ext cx="8229600" cy="3357586"/>
          </a:xfrm>
        </p:spPr>
        <p:txBody>
          <a:bodyPr anchor="ctr">
            <a:normAutofit/>
          </a:bodyPr>
          <a:lstStyle/>
          <a:p>
            <a:pPr algn="ctr">
              <a:buNone/>
            </a:pPr>
            <a:r>
              <a:rPr lang="en-IN" sz="4800" b="1" dirty="0" smtClean="0"/>
              <a:t>Implement Key generation , Encryption and Decryption using RSA Algorithm</a:t>
            </a:r>
            <a:endParaRPr lang="en-IN" sz="4800" b="1"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43510"/>
          </a:xfrm>
        </p:spPr>
        <p:txBody>
          <a:bodyPr>
            <a:normAutofit fontScale="85000" lnSpcReduction="10000"/>
          </a:bodyPr>
          <a:lstStyle/>
          <a:p>
            <a:r>
              <a:rPr lang="en-US" b="1" dirty="0" smtClean="0"/>
              <a:t>Aim:</a:t>
            </a:r>
            <a:r>
              <a:rPr lang="en-US" dirty="0" smtClean="0"/>
              <a:t> To implement RSA algorithm to achieve confidentiality</a:t>
            </a:r>
            <a:endParaRPr lang="en-IN" dirty="0" smtClean="0"/>
          </a:p>
          <a:p>
            <a:r>
              <a:rPr lang="en-US" b="1" dirty="0" smtClean="0"/>
              <a:t>Theory:</a:t>
            </a:r>
            <a:endParaRPr lang="en-IN" dirty="0" smtClean="0"/>
          </a:p>
          <a:p>
            <a:r>
              <a:rPr lang="en-US" b="1" dirty="0" smtClean="0"/>
              <a:t>Public-key cryptography</a:t>
            </a:r>
            <a:r>
              <a:rPr lang="en-US" dirty="0" smtClean="0"/>
              <a:t> refers to a cryptographic system requiring two separate keys, one to lock or encrypt the plaintext, and one to unlock or decrypt the </a:t>
            </a:r>
            <a:r>
              <a:rPr lang="en-US" dirty="0" err="1" smtClean="0"/>
              <a:t>cypher</a:t>
            </a:r>
            <a:r>
              <a:rPr lang="en-US" dirty="0" smtClean="0"/>
              <a:t> text. </a:t>
            </a:r>
          </a:p>
          <a:p>
            <a:r>
              <a:rPr lang="en-US" dirty="0" smtClean="0"/>
              <a:t>Neither key will do both functions. One of these keys is published or public and the other is kept private. If the lock/encryption key is the one published then the system enables private communication from the public to the unlocking key's owner</a:t>
            </a: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22"/>
            <a:ext cx="8229600" cy="5429288"/>
          </a:xfrm>
        </p:spPr>
        <p:txBody>
          <a:bodyPr>
            <a:normAutofit fontScale="85000" lnSpcReduction="10000"/>
          </a:bodyPr>
          <a:lstStyle/>
          <a:p>
            <a:r>
              <a:rPr lang="en-US" dirty="0" smtClean="0"/>
              <a:t>If the unlock/decryption key is the one published then the system serves as a signature verifier of documents locked by the owner of the private key. </a:t>
            </a:r>
          </a:p>
          <a:p>
            <a:r>
              <a:rPr lang="en-US" dirty="0" smtClean="0"/>
              <a:t>This cryptographic approach uses asymmetric key algorithms such as RSA, hence the more general name of "asymmetric key cryptography". </a:t>
            </a:r>
          </a:p>
          <a:p>
            <a:r>
              <a:rPr lang="en-US" dirty="0" smtClean="0"/>
              <a:t>Some of these algorithms have the public key/private key property; that is, neither key is derivable from knowledge of the other; not all asymmetric key algorithms do. </a:t>
            </a:r>
          </a:p>
          <a:p>
            <a:r>
              <a:rPr lang="en-US" dirty="0" smtClean="0"/>
              <a:t>Those with this property are particularly useful and have been widely deployed, and are the source of the commonly used name.</a:t>
            </a:r>
            <a:endParaRPr lang="en-IN" dirty="0"/>
          </a:p>
        </p:txBody>
      </p:sp>
      <p:sp>
        <p:nvSpPr>
          <p:cNvPr id="4" name="Title 1"/>
          <p:cNvSpPr>
            <a:spLocks noGrp="1"/>
          </p:cNvSpPr>
          <p:nvPr>
            <p:ph type="title"/>
          </p:nvPr>
        </p:nvSpPr>
        <p:spPr>
          <a:xfrm>
            <a:off x="500034" y="285728"/>
            <a:ext cx="8229600" cy="1143000"/>
          </a:xfrm>
        </p:spPr>
        <p:txBody>
          <a:bodyPr>
            <a:normAutofit/>
          </a:bodyPr>
          <a:lstStyle/>
          <a:p>
            <a:r>
              <a:rPr lang="en-US" sz="4800" b="1" dirty="0" smtClean="0"/>
              <a:t>PRACTICAL NO : 04</a:t>
            </a:r>
            <a:endParaRPr lang="en-IN" sz="48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Although unrelated, </a:t>
            </a:r>
            <a:r>
              <a:rPr lang="en-US" b="1" dirty="0" smtClean="0"/>
              <a:t>the key pair are mathematically linked</a:t>
            </a:r>
            <a:r>
              <a:rPr lang="en-US" dirty="0" smtClean="0"/>
              <a:t>. </a:t>
            </a:r>
          </a:p>
          <a:p>
            <a:r>
              <a:rPr lang="en-US" dirty="0" smtClean="0"/>
              <a:t>The public key is used to transform a message into an unreadable form, </a:t>
            </a:r>
            <a:r>
              <a:rPr lang="en-US" dirty="0" err="1" smtClean="0"/>
              <a:t>decryptable</a:t>
            </a:r>
            <a:r>
              <a:rPr lang="en-US" dirty="0" smtClean="0"/>
              <a:t> only by using the (different but matching) private key. </a:t>
            </a:r>
          </a:p>
          <a:p>
            <a:r>
              <a:rPr lang="en-US" dirty="0" smtClean="0"/>
              <a:t>By publishing the public key, the key producer empowers anyone who gets a copy of the public key to produce messages only s/he can read—because only the key producer has a copy of the private key (required for decryption). </a:t>
            </a:r>
            <a:endParaRPr lang="en-IN" dirty="0" smtClean="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When someone wants to send a secure message to the creator of those keys, the sender encrypts it (i.e., transforms it into an unreadable form) using the intended recipient's public key; to decrypt the message, the recipient uses the private key. </a:t>
            </a:r>
          </a:p>
          <a:p>
            <a:r>
              <a:rPr lang="en-US" dirty="0" smtClean="0"/>
              <a:t>No one else, including the sender, can do so.</a:t>
            </a: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smtClean="0"/>
              <a:t>RSA</a:t>
            </a:r>
            <a:endParaRPr lang="en-IN" dirty="0" smtClean="0"/>
          </a:p>
          <a:p>
            <a:r>
              <a:rPr lang="en-US" dirty="0" smtClean="0"/>
              <a:t>RSA involves a </a:t>
            </a:r>
            <a:r>
              <a:rPr lang="en-US" b="1" dirty="0" smtClean="0"/>
              <a:t>public key</a:t>
            </a:r>
            <a:r>
              <a:rPr lang="en-US" dirty="0" smtClean="0"/>
              <a:t> and a </a:t>
            </a:r>
            <a:r>
              <a:rPr lang="en-US" b="1" dirty="0" smtClean="0"/>
              <a:t>private key.</a:t>
            </a:r>
            <a:r>
              <a:rPr lang="en-US" dirty="0" smtClean="0"/>
              <a:t> The public key can be known to everyone and is used for encrypting messages. Messages encrypted with the public key can only be decrypted using the private key. The keys for the RSA algorithm are generated the following way:</a:t>
            </a:r>
            <a:endParaRPr lang="en-IN" dirty="0" smtClean="0"/>
          </a:p>
          <a:p>
            <a:pPr lvl="0"/>
            <a:r>
              <a:rPr lang="en-US" dirty="0" smtClean="0"/>
              <a:t>Choose two distinct prime numbers </a:t>
            </a:r>
            <a:r>
              <a:rPr lang="en-US" i="1" dirty="0" smtClean="0"/>
              <a:t>p</a:t>
            </a:r>
            <a:r>
              <a:rPr lang="en-US" dirty="0" smtClean="0"/>
              <a:t> and </a:t>
            </a:r>
            <a:r>
              <a:rPr lang="en-US" i="1" dirty="0" smtClean="0"/>
              <a:t>q</a:t>
            </a:r>
            <a:r>
              <a:rPr lang="en-US" dirty="0" smtClean="0"/>
              <a:t>.</a:t>
            </a:r>
            <a:endParaRPr lang="en-IN" dirty="0" smtClean="0"/>
          </a:p>
          <a:p>
            <a:pPr lvl="0"/>
            <a:r>
              <a:rPr lang="en-US" dirty="0" smtClean="0"/>
              <a:t>For security purposes, the integers </a:t>
            </a:r>
            <a:r>
              <a:rPr lang="en-US" i="1" dirty="0" smtClean="0"/>
              <a:t>p</a:t>
            </a:r>
            <a:r>
              <a:rPr lang="en-US" dirty="0" smtClean="0"/>
              <a:t> and </a:t>
            </a:r>
            <a:r>
              <a:rPr lang="en-US" i="1" dirty="0" smtClean="0"/>
              <a:t>q</a:t>
            </a:r>
            <a:r>
              <a:rPr lang="en-US" dirty="0" smtClean="0"/>
              <a:t> should be chosen at random, and should be of similar bit-length. </a:t>
            </a:r>
            <a:endParaRPr lang="en-IN" dirty="0" smtClean="0"/>
          </a:p>
          <a:p>
            <a:endParaRPr lang="en-IN" dirty="0"/>
          </a:p>
        </p:txBody>
      </p:sp>
      <p:sp>
        <p:nvSpPr>
          <p:cNvPr id="5"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lvl="0"/>
            <a:r>
              <a:rPr lang="en-US" dirty="0" smtClean="0"/>
              <a:t>Compute</a:t>
            </a:r>
            <a:r>
              <a:rPr lang="en-US" i="1" dirty="0" smtClean="0"/>
              <a:t> n</a:t>
            </a:r>
            <a:r>
              <a:rPr lang="en-US" dirty="0" smtClean="0"/>
              <a:t> =</a:t>
            </a:r>
            <a:r>
              <a:rPr lang="en-US" i="1" dirty="0" smtClean="0"/>
              <a:t> </a:t>
            </a:r>
            <a:r>
              <a:rPr lang="en-US" i="1" dirty="0" err="1" smtClean="0"/>
              <a:t>pq</a:t>
            </a:r>
            <a:r>
              <a:rPr lang="en-US" dirty="0" smtClean="0"/>
              <a:t>.</a:t>
            </a:r>
            <a:endParaRPr lang="en-IN" dirty="0" smtClean="0"/>
          </a:p>
          <a:p>
            <a:pPr lvl="1"/>
            <a:r>
              <a:rPr lang="en-US" i="1" dirty="0" smtClean="0"/>
              <a:t>n</a:t>
            </a:r>
            <a:r>
              <a:rPr lang="en-US" dirty="0" smtClean="0"/>
              <a:t> is used as the modulus for both the public and private keys</a:t>
            </a:r>
            <a:endParaRPr lang="en-IN" dirty="0" smtClean="0"/>
          </a:p>
          <a:p>
            <a:pPr lvl="0"/>
            <a:r>
              <a:rPr lang="en-US" dirty="0" smtClean="0"/>
              <a:t>Compute φ(</a:t>
            </a:r>
            <a:r>
              <a:rPr lang="en-US" i="1" dirty="0" smtClean="0"/>
              <a:t>n</a:t>
            </a:r>
            <a:r>
              <a:rPr lang="en-US" dirty="0" smtClean="0"/>
              <a:t>) = (</a:t>
            </a:r>
            <a:r>
              <a:rPr lang="en-US" i="1" dirty="0" smtClean="0"/>
              <a:t>p-</a:t>
            </a:r>
            <a:r>
              <a:rPr lang="en-US" dirty="0" smtClean="0"/>
              <a:t>1)(</a:t>
            </a:r>
            <a:r>
              <a:rPr lang="en-US" i="1" dirty="0" smtClean="0"/>
              <a:t>q-</a:t>
            </a:r>
            <a:r>
              <a:rPr lang="en-US" dirty="0" smtClean="0"/>
              <a:t>1), where φ is Euler's </a:t>
            </a:r>
            <a:r>
              <a:rPr lang="en-US" dirty="0" err="1" smtClean="0"/>
              <a:t>totient</a:t>
            </a:r>
            <a:r>
              <a:rPr lang="en-US" dirty="0" smtClean="0"/>
              <a:t> function.</a:t>
            </a:r>
            <a:endParaRPr lang="en-IN" dirty="0" smtClean="0"/>
          </a:p>
          <a:p>
            <a:pPr lvl="0"/>
            <a:r>
              <a:rPr lang="en-US" dirty="0" smtClean="0"/>
              <a:t>Choose an integer </a:t>
            </a:r>
            <a:r>
              <a:rPr lang="en-US" i="1" dirty="0" smtClean="0"/>
              <a:t>e</a:t>
            </a:r>
            <a:r>
              <a:rPr lang="en-US" dirty="0" smtClean="0"/>
              <a:t> such that 1 &lt; </a:t>
            </a:r>
            <a:r>
              <a:rPr lang="en-US" i="1" dirty="0" smtClean="0"/>
              <a:t>e</a:t>
            </a:r>
            <a:r>
              <a:rPr lang="en-US" dirty="0" smtClean="0"/>
              <a:t> &lt; φ(</a:t>
            </a:r>
            <a:r>
              <a:rPr lang="en-US" i="1" dirty="0" smtClean="0"/>
              <a:t>n</a:t>
            </a:r>
            <a:r>
              <a:rPr lang="en-US" dirty="0" smtClean="0"/>
              <a:t>) and greatest common divisor of (</a:t>
            </a:r>
            <a:r>
              <a:rPr lang="en-US" i="1" dirty="0" smtClean="0"/>
              <a:t>e</a:t>
            </a:r>
            <a:r>
              <a:rPr lang="en-US" dirty="0" smtClean="0"/>
              <a:t>, φ(</a:t>
            </a:r>
            <a:r>
              <a:rPr lang="en-US" i="1" dirty="0" smtClean="0"/>
              <a:t>n</a:t>
            </a:r>
            <a:r>
              <a:rPr lang="en-US" dirty="0" smtClean="0"/>
              <a:t>)) = 1; i.e., </a:t>
            </a:r>
            <a:r>
              <a:rPr lang="en-US" i="1" dirty="0" smtClean="0"/>
              <a:t>e</a:t>
            </a:r>
            <a:r>
              <a:rPr lang="en-US" dirty="0" smtClean="0"/>
              <a:t> and φ(</a:t>
            </a:r>
            <a:r>
              <a:rPr lang="en-US" i="1" dirty="0" smtClean="0"/>
              <a:t>n</a:t>
            </a:r>
            <a:r>
              <a:rPr lang="en-US" dirty="0" smtClean="0"/>
              <a:t>) are co prime.</a:t>
            </a:r>
            <a:endParaRPr lang="en-IN" dirty="0" smtClean="0"/>
          </a:p>
          <a:p>
            <a:pPr lvl="1"/>
            <a:r>
              <a:rPr lang="en-US" i="1" dirty="0" smtClean="0"/>
              <a:t>e</a:t>
            </a:r>
            <a:r>
              <a:rPr lang="en-US" dirty="0" smtClean="0"/>
              <a:t> is released as the public key exponent.</a:t>
            </a:r>
            <a:endParaRPr lang="en-IN" dirty="0" smtClean="0"/>
          </a:p>
          <a:p>
            <a:pPr lvl="0"/>
            <a:r>
              <a:rPr lang="en-US" dirty="0" smtClean="0"/>
              <a:t>Determine </a:t>
            </a:r>
            <a:r>
              <a:rPr lang="en-US" i="1" dirty="0" smtClean="0"/>
              <a:t>d</a:t>
            </a:r>
            <a:r>
              <a:rPr lang="en-US" dirty="0" smtClean="0"/>
              <a:t> as:</a:t>
            </a:r>
          </a:p>
          <a:p>
            <a:pPr lvl="0"/>
            <a:endParaRPr lang="en-IN" dirty="0" smtClean="0"/>
          </a:p>
          <a:p>
            <a:endParaRPr lang="en-IN" dirty="0"/>
          </a:p>
        </p:txBody>
      </p:sp>
      <p:pic>
        <p:nvPicPr>
          <p:cNvPr id="4" name="Picture 5" descr="d \equiv e^{-1} \pmod{\varphi(n)}"/>
          <p:cNvPicPr>
            <a:picLocks noChangeAspect="1" noChangeArrowheads="1"/>
          </p:cNvPicPr>
          <p:nvPr/>
        </p:nvPicPr>
        <p:blipFill>
          <a:blip r:embed="rId2"/>
          <a:srcRect/>
          <a:stretch>
            <a:fillRect/>
          </a:stretch>
        </p:blipFill>
        <p:spPr bwMode="auto">
          <a:xfrm>
            <a:off x="2834017" y="5929330"/>
            <a:ext cx="3439135" cy="714380"/>
          </a:xfrm>
          <a:prstGeom prst="rect">
            <a:avLst/>
          </a:prstGeom>
          <a:noFill/>
          <a:ln w="9525">
            <a:noFill/>
            <a:miter lim="800000"/>
            <a:headEnd/>
            <a:tailEnd/>
          </a:ln>
        </p:spPr>
      </p:pic>
      <p:sp>
        <p:nvSpPr>
          <p:cNvPr id="5"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i.e., </a:t>
            </a:r>
            <a:r>
              <a:rPr lang="en-US" i="1" dirty="0" smtClean="0"/>
              <a:t>d</a:t>
            </a:r>
            <a:r>
              <a:rPr lang="en-US" dirty="0" smtClean="0"/>
              <a:t> is the multiplicative inverse of </a:t>
            </a:r>
            <a:r>
              <a:rPr lang="en-US" i="1" dirty="0" smtClean="0"/>
              <a:t>e</a:t>
            </a:r>
            <a:r>
              <a:rPr lang="en-US" dirty="0" smtClean="0"/>
              <a:t> mod φ(</a:t>
            </a:r>
            <a:r>
              <a:rPr lang="en-US" i="1" dirty="0" smtClean="0"/>
              <a:t>n</a:t>
            </a:r>
            <a:r>
              <a:rPr lang="en-US" dirty="0" smtClean="0"/>
              <a:t>).</a:t>
            </a:r>
            <a:endParaRPr lang="en-IN" dirty="0" smtClean="0"/>
          </a:p>
          <a:p>
            <a:r>
              <a:rPr lang="en-US" dirty="0" smtClean="0"/>
              <a:t>The </a:t>
            </a:r>
            <a:r>
              <a:rPr lang="en-US" b="1" dirty="0" smtClean="0"/>
              <a:t>public key</a:t>
            </a:r>
            <a:r>
              <a:rPr lang="en-US" dirty="0" smtClean="0"/>
              <a:t> consists of the modulus </a:t>
            </a:r>
            <a:r>
              <a:rPr lang="en-US" i="1" dirty="0" smtClean="0"/>
              <a:t>n</a:t>
            </a:r>
            <a:r>
              <a:rPr lang="en-US" dirty="0" smtClean="0"/>
              <a:t> and the public (or encryption) exponent </a:t>
            </a:r>
            <a:r>
              <a:rPr lang="en-US" i="1" dirty="0" smtClean="0"/>
              <a:t>e</a:t>
            </a:r>
            <a:r>
              <a:rPr lang="en-US" dirty="0" smtClean="0"/>
              <a:t>. The </a:t>
            </a:r>
            <a:r>
              <a:rPr lang="en-US" b="1" dirty="0" smtClean="0"/>
              <a:t>private key</a:t>
            </a:r>
            <a:r>
              <a:rPr lang="en-US" dirty="0" smtClean="0"/>
              <a:t> consists of the modulus </a:t>
            </a:r>
            <a:r>
              <a:rPr lang="en-US" i="1" dirty="0" smtClean="0"/>
              <a:t>n</a:t>
            </a:r>
            <a:r>
              <a:rPr lang="en-US" dirty="0" smtClean="0"/>
              <a:t> and the private (or decryption) exponent </a:t>
            </a:r>
            <a:r>
              <a:rPr lang="en-US" i="1" dirty="0" smtClean="0"/>
              <a:t>d</a:t>
            </a:r>
            <a:r>
              <a:rPr lang="en-US" dirty="0" smtClean="0"/>
              <a:t> which must be kept secret.</a:t>
            </a:r>
            <a:endParaRPr lang="en-IN" dirty="0" smtClean="0"/>
          </a:p>
          <a:p>
            <a:r>
              <a:rPr lang="en-US" b="1" dirty="0" smtClean="0"/>
              <a:t>Encryption</a:t>
            </a:r>
            <a:endParaRPr lang="en-IN" b="1" dirty="0" smtClean="0"/>
          </a:p>
          <a:p>
            <a:r>
              <a:rPr lang="en-US" dirty="0" smtClean="0"/>
              <a:t>Alice transmits her public key </a:t>
            </a:r>
            <a:r>
              <a:rPr lang="en-IN" dirty="0" smtClean="0"/>
              <a:t> </a:t>
            </a:r>
            <a:r>
              <a:rPr lang="en-US" dirty="0" smtClean="0"/>
              <a:t> to Bob and keeps the private key secret. Bob then wishes to send message </a:t>
            </a:r>
            <a:r>
              <a:rPr lang="en-US" b="1" dirty="0" smtClean="0"/>
              <a:t>M</a:t>
            </a:r>
            <a:r>
              <a:rPr lang="en-US" dirty="0" smtClean="0"/>
              <a:t> to Alice.</a:t>
            </a:r>
            <a:endParaRPr lang="en-IN" dirty="0" smtClean="0"/>
          </a:p>
        </p:txBody>
      </p:sp>
      <p:sp>
        <p:nvSpPr>
          <p:cNvPr id="5"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t>He first turns </a:t>
            </a:r>
            <a:r>
              <a:rPr lang="en-US" b="1" dirty="0" smtClean="0"/>
              <a:t>M</a:t>
            </a:r>
            <a:r>
              <a:rPr lang="en-US" dirty="0" smtClean="0"/>
              <a:t> into an integer m, such that </a:t>
            </a:r>
            <a:r>
              <a:rPr lang="en-IN" dirty="0" smtClean="0"/>
              <a:t> </a:t>
            </a:r>
            <a:r>
              <a:rPr lang="en-US" dirty="0" smtClean="0"/>
              <a:t> by using an agreed-upon reversible protocol known as a padding scheme. He then computes the </a:t>
            </a:r>
            <a:r>
              <a:rPr lang="en-US" dirty="0" err="1" smtClean="0"/>
              <a:t>ciphertext</a:t>
            </a:r>
            <a:r>
              <a:rPr lang="en-US" dirty="0" smtClean="0"/>
              <a:t> </a:t>
            </a:r>
            <a:r>
              <a:rPr lang="en-IN" dirty="0" smtClean="0"/>
              <a:t> </a:t>
            </a:r>
            <a:r>
              <a:rPr lang="en-US" dirty="0" smtClean="0"/>
              <a:t> corresponding to</a:t>
            </a:r>
            <a:r>
              <a:rPr lang="en-IN" dirty="0" smtClean="0"/>
              <a:t> t</a:t>
            </a:r>
            <a:r>
              <a:rPr lang="en-US" dirty="0" smtClean="0"/>
              <a:t>his can be done quickly using the method of exponentiation by squaring. Bob then transmits </a:t>
            </a:r>
            <a:r>
              <a:rPr lang="en-IN" dirty="0" smtClean="0"/>
              <a:t> </a:t>
            </a:r>
            <a:r>
              <a:rPr lang="en-US" dirty="0" smtClean="0"/>
              <a:t> to Alice.</a:t>
            </a:r>
            <a:endParaRPr lang="en-IN" dirty="0" smtClean="0"/>
          </a:p>
          <a:p>
            <a:r>
              <a:rPr lang="en-US" dirty="0" smtClean="0"/>
              <a:t>Note that at least nine values of m will yield a cipher text c equal to m but this is very unlikely to occur in practice.</a:t>
            </a:r>
            <a:endParaRPr lang="en-IN" dirty="0" smtClean="0"/>
          </a:p>
          <a:p>
            <a:r>
              <a:rPr lang="en-US" b="1" dirty="0" smtClean="0"/>
              <a:t>Decryption</a:t>
            </a:r>
            <a:endParaRPr lang="en-IN" b="1" dirty="0" smtClean="0"/>
          </a:p>
          <a:p>
            <a:r>
              <a:rPr lang="en-US" dirty="0" smtClean="0"/>
              <a:t>Alice can recover </a:t>
            </a:r>
            <a:r>
              <a:rPr lang="en-IN" dirty="0" smtClean="0"/>
              <a:t> </a:t>
            </a:r>
            <a:r>
              <a:rPr lang="en-US" dirty="0" smtClean="0"/>
              <a:t> from </a:t>
            </a:r>
            <a:r>
              <a:rPr lang="en-IN" dirty="0" smtClean="0"/>
              <a:t> </a:t>
            </a:r>
            <a:r>
              <a:rPr lang="en-US" dirty="0" smtClean="0"/>
              <a:t> by using her private key exponent </a:t>
            </a:r>
            <a:r>
              <a:rPr lang="en-IN" dirty="0" smtClean="0"/>
              <a:t> </a:t>
            </a:r>
            <a:r>
              <a:rPr lang="en-US" dirty="0" smtClean="0"/>
              <a:t> d via computing</a:t>
            </a:r>
          </a:p>
          <a:p>
            <a:pPr>
              <a:buNone/>
            </a:pPr>
            <a:endParaRPr lang="en-IN" dirty="0" smtClean="0"/>
          </a:p>
          <a:p>
            <a:endParaRPr lang="en-IN" dirty="0"/>
          </a:p>
        </p:txBody>
      </p:sp>
      <p:pic>
        <p:nvPicPr>
          <p:cNvPr id="4" name="Picture 14" descr=" m = c^d\text{ (mod }n\text{)}"/>
          <p:cNvPicPr>
            <a:picLocks noChangeAspect="1" noChangeArrowheads="1"/>
          </p:cNvPicPr>
          <p:nvPr/>
        </p:nvPicPr>
        <p:blipFill>
          <a:blip r:embed="rId2"/>
          <a:srcRect/>
          <a:stretch>
            <a:fillRect/>
          </a:stretch>
        </p:blipFill>
        <p:spPr bwMode="auto">
          <a:xfrm>
            <a:off x="3214678" y="6215082"/>
            <a:ext cx="3354868" cy="571480"/>
          </a:xfrm>
          <a:prstGeom prst="rect">
            <a:avLst/>
          </a:prstGeom>
          <a:noFill/>
          <a:ln w="9525">
            <a:noFill/>
            <a:miter lim="800000"/>
            <a:headEnd/>
            <a:tailEnd/>
          </a:ln>
        </p:spPr>
      </p:pic>
      <p:sp>
        <p:nvSpPr>
          <p:cNvPr id="5"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257692"/>
          </a:xfrm>
        </p:spPr>
        <p:txBody>
          <a:bodyPr>
            <a:noAutofit/>
          </a:bodyPr>
          <a:lstStyle/>
          <a:p>
            <a:pPr fontAlgn="base">
              <a:buNone/>
            </a:pPr>
            <a:r>
              <a:rPr lang="en-IN" sz="3600" dirty="0" smtClean="0"/>
              <a:t>#include &lt;bits/</a:t>
            </a:r>
            <a:r>
              <a:rPr lang="en-IN" sz="3600" dirty="0" err="1" smtClean="0"/>
              <a:t>stdc</a:t>
            </a:r>
            <a:r>
              <a:rPr lang="en-IN" sz="3600" dirty="0" smtClean="0"/>
              <a:t>++.h&gt;</a:t>
            </a:r>
          </a:p>
          <a:p>
            <a:pPr fontAlgn="base">
              <a:buNone/>
            </a:pPr>
            <a:r>
              <a:rPr lang="en-IN" sz="3600" dirty="0" smtClean="0"/>
              <a:t>using namespace std;</a:t>
            </a:r>
          </a:p>
          <a:p>
            <a:pPr fontAlgn="base">
              <a:buNone/>
            </a:pPr>
            <a:r>
              <a:rPr lang="en-IN" sz="3600" dirty="0" smtClean="0"/>
              <a:t>// Returns </a:t>
            </a:r>
            <a:r>
              <a:rPr lang="en-IN" sz="3600" dirty="0" err="1" smtClean="0"/>
              <a:t>gcd</a:t>
            </a:r>
            <a:r>
              <a:rPr lang="en-IN" sz="3600" dirty="0" smtClean="0"/>
              <a:t> of a and b</a:t>
            </a:r>
          </a:p>
          <a:p>
            <a:pPr fontAlgn="base">
              <a:buNone/>
            </a:pPr>
            <a:r>
              <a:rPr lang="en-IN" sz="3600" dirty="0" err="1" smtClean="0"/>
              <a:t>int</a:t>
            </a:r>
            <a:r>
              <a:rPr lang="en-IN" sz="3600" dirty="0" smtClean="0"/>
              <a:t> </a:t>
            </a:r>
            <a:r>
              <a:rPr lang="en-IN" sz="3600" dirty="0" err="1" smtClean="0"/>
              <a:t>gcd</a:t>
            </a:r>
            <a:r>
              <a:rPr lang="en-IN" sz="3600" dirty="0" smtClean="0"/>
              <a:t>(</a:t>
            </a:r>
            <a:r>
              <a:rPr lang="en-IN" sz="3600" dirty="0" err="1" smtClean="0"/>
              <a:t>int</a:t>
            </a:r>
            <a:r>
              <a:rPr lang="en-IN" sz="3600" dirty="0" smtClean="0"/>
              <a:t> a, </a:t>
            </a:r>
            <a:r>
              <a:rPr lang="en-IN" sz="3600" dirty="0" err="1" smtClean="0"/>
              <a:t>int</a:t>
            </a:r>
            <a:r>
              <a:rPr lang="en-IN" sz="3600" dirty="0" smtClean="0"/>
              <a:t> b)</a:t>
            </a:r>
          </a:p>
          <a:p>
            <a:pPr fontAlgn="base">
              <a:buNone/>
            </a:pPr>
            <a:r>
              <a:rPr lang="en-IN" sz="3600" dirty="0" smtClean="0"/>
              <a:t>{</a:t>
            </a:r>
          </a:p>
          <a:p>
            <a:pPr fontAlgn="base">
              <a:buNone/>
            </a:pPr>
            <a:r>
              <a:rPr lang="en-IN" sz="3600" dirty="0" smtClean="0"/>
              <a:t>    </a:t>
            </a:r>
            <a:r>
              <a:rPr lang="en-IN" sz="3600" dirty="0" err="1" smtClean="0"/>
              <a:t>int</a:t>
            </a:r>
            <a:r>
              <a:rPr lang="en-IN" sz="3600" dirty="0" smtClean="0"/>
              <a:t> temp;</a:t>
            </a:r>
          </a:p>
          <a:p>
            <a:pPr fontAlgn="base">
              <a:buNone/>
            </a:pPr>
            <a:r>
              <a:rPr lang="en-IN" sz="3600" dirty="0" smtClean="0"/>
              <a:t>    </a:t>
            </a:r>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buNone/>
            </a:pPr>
            <a:r>
              <a:rPr lang="en-IN" dirty="0" smtClean="0"/>
              <a:t>while (1) {</a:t>
            </a:r>
          </a:p>
          <a:p>
            <a:pPr fontAlgn="base">
              <a:buNone/>
            </a:pPr>
            <a:r>
              <a:rPr lang="en-IN" dirty="0" smtClean="0"/>
              <a:t>        temp = a % b;</a:t>
            </a:r>
          </a:p>
          <a:p>
            <a:pPr fontAlgn="base">
              <a:buNone/>
            </a:pPr>
            <a:r>
              <a:rPr lang="en-IN" dirty="0" smtClean="0"/>
              <a:t>        if (temp == 0)</a:t>
            </a:r>
          </a:p>
          <a:p>
            <a:pPr fontAlgn="base">
              <a:buNone/>
            </a:pPr>
            <a:r>
              <a:rPr lang="en-IN" dirty="0" smtClean="0"/>
              <a:t>            return b;</a:t>
            </a:r>
          </a:p>
          <a:p>
            <a:pPr fontAlgn="base">
              <a:buNone/>
            </a:pPr>
            <a:r>
              <a:rPr lang="en-IN" dirty="0" smtClean="0"/>
              <a:t>        a = b;</a:t>
            </a:r>
          </a:p>
          <a:p>
            <a:pPr fontAlgn="base">
              <a:buNone/>
            </a:pPr>
            <a:r>
              <a:rPr lang="en-IN" dirty="0" smtClean="0"/>
              <a:t>        b = temp;</a:t>
            </a:r>
          </a:p>
          <a:p>
            <a:pPr fontAlgn="base">
              <a:buNone/>
            </a:pPr>
            <a:r>
              <a:rPr lang="en-IN" dirty="0" smtClean="0"/>
              <a:t>    }</a:t>
            </a:r>
          </a:p>
          <a:p>
            <a:pPr fontAlgn="base">
              <a:buNone/>
            </a:pPr>
            <a:r>
              <a:rPr lang="en-IN" dirty="0" smtClean="0"/>
              <a:t>}</a:t>
            </a:r>
            <a:endParaRPr lang="en-IN" dirty="0"/>
          </a:p>
        </p:txBody>
      </p:sp>
      <p:sp>
        <p:nvSpPr>
          <p:cNvPr id="5"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fontAlgn="base">
              <a:buNone/>
            </a:pPr>
            <a:r>
              <a:rPr lang="en-IN" dirty="0" smtClean="0"/>
              <a:t>// Code to demonstrate RSA algorithm</a:t>
            </a:r>
          </a:p>
          <a:p>
            <a:pPr fontAlgn="base">
              <a:buNone/>
            </a:pPr>
            <a:r>
              <a:rPr lang="en-IN" dirty="0" err="1" smtClean="0"/>
              <a:t>int</a:t>
            </a:r>
            <a:r>
              <a:rPr lang="en-IN" dirty="0" smtClean="0"/>
              <a:t> main()</a:t>
            </a:r>
          </a:p>
          <a:p>
            <a:pPr fontAlgn="base">
              <a:buNone/>
            </a:pPr>
            <a:r>
              <a:rPr lang="en-IN" dirty="0" smtClean="0"/>
              <a:t>{</a:t>
            </a:r>
          </a:p>
          <a:p>
            <a:pPr fontAlgn="base">
              <a:buNone/>
            </a:pPr>
            <a:r>
              <a:rPr lang="en-IN" dirty="0" smtClean="0"/>
              <a:t>// Two random prime numbers</a:t>
            </a:r>
          </a:p>
          <a:p>
            <a:pPr fontAlgn="base">
              <a:buNone/>
            </a:pPr>
            <a:r>
              <a:rPr lang="en-IN" dirty="0" smtClean="0"/>
              <a:t>    double p = 3;</a:t>
            </a:r>
          </a:p>
          <a:p>
            <a:pPr fontAlgn="base">
              <a:buNone/>
            </a:pPr>
            <a:r>
              <a:rPr lang="en-IN" dirty="0" smtClean="0"/>
              <a:t>    double q = 7;</a:t>
            </a:r>
          </a:p>
          <a:p>
            <a:pPr fontAlgn="base">
              <a:buNone/>
            </a:pPr>
            <a:r>
              <a:rPr lang="en-IN" dirty="0" smtClean="0"/>
              <a:t>// First part of public key:</a:t>
            </a:r>
          </a:p>
          <a:p>
            <a:pPr fontAlgn="base">
              <a:buNone/>
            </a:pPr>
            <a:r>
              <a:rPr lang="en-IN" dirty="0" smtClean="0"/>
              <a:t>    double n = p * q;</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43510"/>
          </a:xfrm>
        </p:spPr>
        <p:txBody>
          <a:bodyPr>
            <a:normAutofit/>
          </a:bodyPr>
          <a:lstStyle/>
          <a:p>
            <a:pPr fontAlgn="base">
              <a:buNone/>
            </a:pPr>
            <a:r>
              <a:rPr lang="en-IN" dirty="0" smtClean="0"/>
              <a:t>// Finding other part of public key.</a:t>
            </a:r>
          </a:p>
          <a:p>
            <a:pPr fontAlgn="base">
              <a:buNone/>
            </a:pPr>
            <a:r>
              <a:rPr lang="en-IN" dirty="0" smtClean="0"/>
              <a:t>    // e stands for encrypt</a:t>
            </a:r>
          </a:p>
          <a:p>
            <a:pPr fontAlgn="base">
              <a:buNone/>
            </a:pPr>
            <a:r>
              <a:rPr lang="en-IN" dirty="0" smtClean="0"/>
              <a:t>    double e = 2;</a:t>
            </a:r>
          </a:p>
          <a:p>
            <a:pPr fontAlgn="base">
              <a:buNone/>
            </a:pPr>
            <a:r>
              <a:rPr lang="en-IN" dirty="0" smtClean="0"/>
              <a:t>    double phi = (p - 1) * (q - 1);</a:t>
            </a:r>
          </a:p>
          <a:p>
            <a:pPr fontAlgn="base">
              <a:buNone/>
            </a:pPr>
            <a:r>
              <a:rPr lang="en-IN" dirty="0" smtClean="0"/>
              <a:t>    while (e &lt; phi) </a:t>
            </a:r>
          </a:p>
          <a:p>
            <a:pPr lvl="1" fontAlgn="base">
              <a:buNone/>
            </a:pPr>
            <a:r>
              <a:rPr lang="en-IN" dirty="0" smtClean="0"/>
              <a:t>	{</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e must be co-prime to phi and</a:t>
            </a:r>
          </a:p>
          <a:p>
            <a:pPr fontAlgn="base">
              <a:buNone/>
            </a:pPr>
            <a:r>
              <a:rPr lang="en-IN" dirty="0" smtClean="0"/>
              <a:t>        // smaller than phi.</a:t>
            </a:r>
          </a:p>
          <a:p>
            <a:pPr fontAlgn="base">
              <a:buNone/>
            </a:pPr>
            <a:r>
              <a:rPr lang="en-IN" dirty="0" smtClean="0"/>
              <a:t>        if (</a:t>
            </a:r>
            <a:r>
              <a:rPr lang="en-IN" dirty="0" err="1" smtClean="0"/>
              <a:t>gcd</a:t>
            </a:r>
            <a:r>
              <a:rPr lang="en-IN" dirty="0" smtClean="0"/>
              <a:t>(e, phi) == 1)</a:t>
            </a:r>
          </a:p>
          <a:p>
            <a:pPr fontAlgn="base">
              <a:buNone/>
            </a:pPr>
            <a:r>
              <a:rPr lang="en-IN" dirty="0" smtClean="0"/>
              <a:t>            break;</a:t>
            </a:r>
          </a:p>
          <a:p>
            <a:pPr fontAlgn="base">
              <a:buNone/>
            </a:pPr>
            <a:r>
              <a:rPr lang="en-IN" dirty="0" smtClean="0"/>
              <a:t>        else</a:t>
            </a:r>
          </a:p>
          <a:p>
            <a:pPr fontAlgn="base">
              <a:buNone/>
            </a:pPr>
            <a:r>
              <a:rPr lang="en-IN" dirty="0" smtClean="0"/>
              <a:t>            e++;</a:t>
            </a:r>
          </a:p>
          <a:p>
            <a:pPr fontAlgn="base">
              <a:buNone/>
            </a:pPr>
            <a:r>
              <a:rPr lang="en-IN" dirty="0" smtClean="0"/>
              <a:t>    }</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fontAlgn="base">
              <a:buNone/>
            </a:pPr>
            <a:r>
              <a:rPr lang="en-IN" dirty="0" smtClean="0"/>
              <a:t>// Private key (d stands for decrypt)</a:t>
            </a:r>
          </a:p>
          <a:p>
            <a:pPr fontAlgn="base">
              <a:buNone/>
            </a:pPr>
            <a:r>
              <a:rPr lang="en-IN" dirty="0" smtClean="0"/>
              <a:t>    // choosing d such that it satisfies</a:t>
            </a:r>
          </a:p>
          <a:p>
            <a:pPr fontAlgn="base">
              <a:buNone/>
            </a:pPr>
            <a:r>
              <a:rPr lang="en-IN" dirty="0" smtClean="0"/>
              <a:t>    // d*e = 1 + k * </a:t>
            </a:r>
            <a:r>
              <a:rPr lang="en-IN" dirty="0" err="1" smtClean="0"/>
              <a:t>totient</a:t>
            </a:r>
            <a:endParaRPr lang="en-IN" dirty="0" smtClean="0"/>
          </a:p>
          <a:p>
            <a:pPr fontAlgn="base">
              <a:buNone/>
            </a:pPr>
            <a:r>
              <a:rPr lang="en-IN" dirty="0" smtClean="0"/>
              <a:t>    </a:t>
            </a:r>
            <a:r>
              <a:rPr lang="en-IN" dirty="0" err="1" smtClean="0"/>
              <a:t>int</a:t>
            </a:r>
            <a:r>
              <a:rPr lang="en-IN" dirty="0" smtClean="0"/>
              <a:t> k = 2; // A constant value</a:t>
            </a:r>
          </a:p>
          <a:p>
            <a:pPr fontAlgn="base">
              <a:buNone/>
            </a:pPr>
            <a:r>
              <a:rPr lang="en-IN" dirty="0" smtClean="0"/>
              <a:t>    double d = (1 + (k * phi)) / e;</a:t>
            </a:r>
          </a:p>
          <a:p>
            <a:pPr fontAlgn="base">
              <a:buNone/>
            </a:pPr>
            <a:r>
              <a:rPr lang="en-IN" dirty="0" smtClean="0"/>
              <a:t> // Message to be encrypted</a:t>
            </a:r>
          </a:p>
          <a:p>
            <a:pPr fontAlgn="base">
              <a:buNone/>
            </a:pPr>
            <a:r>
              <a:rPr lang="en-IN" dirty="0" smtClean="0"/>
              <a:t>    double </a:t>
            </a:r>
            <a:r>
              <a:rPr lang="en-IN" dirty="0" err="1" smtClean="0"/>
              <a:t>msg</a:t>
            </a:r>
            <a:r>
              <a:rPr lang="en-IN" dirty="0" smtClean="0"/>
              <a:t> = 12;</a:t>
            </a:r>
          </a:p>
          <a:p>
            <a:pPr fontAlgn="base">
              <a:buNone/>
            </a:pPr>
            <a:r>
              <a:rPr lang="en-IN" dirty="0" smtClean="0"/>
              <a:t> </a:t>
            </a:r>
          </a:p>
          <a:p>
            <a:pPr fontAlgn="base">
              <a:buNone/>
            </a:pPr>
            <a:r>
              <a:rPr lang="en-IN" dirty="0" smtClean="0"/>
              <a:t>    </a:t>
            </a:r>
            <a:r>
              <a:rPr lang="en-IN" dirty="0" err="1" smtClean="0"/>
              <a:t>printf</a:t>
            </a:r>
            <a:r>
              <a:rPr lang="en-IN" dirty="0" smtClean="0"/>
              <a:t>("Message data = %lf", </a:t>
            </a:r>
            <a:r>
              <a:rPr lang="en-IN" dirty="0" err="1" smtClean="0"/>
              <a:t>msg</a:t>
            </a:r>
            <a:r>
              <a:rPr lang="en-IN" dirty="0" smtClean="0"/>
              <a:t>);</a:t>
            </a:r>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43510"/>
          </a:xfrm>
        </p:spPr>
        <p:txBody>
          <a:bodyPr>
            <a:normAutofit fontScale="92500" lnSpcReduction="20000"/>
          </a:bodyPr>
          <a:lstStyle/>
          <a:p>
            <a:pPr fontAlgn="base">
              <a:buNone/>
            </a:pPr>
            <a:r>
              <a:rPr lang="en-IN" dirty="0" smtClean="0"/>
              <a:t>// Encryption c = (</a:t>
            </a:r>
            <a:r>
              <a:rPr lang="en-IN" dirty="0" err="1" smtClean="0"/>
              <a:t>msg</a:t>
            </a:r>
            <a:r>
              <a:rPr lang="en-IN" dirty="0" smtClean="0"/>
              <a:t> ^ e) % n</a:t>
            </a:r>
          </a:p>
          <a:p>
            <a:pPr fontAlgn="base">
              <a:buNone/>
            </a:pPr>
            <a:r>
              <a:rPr lang="en-IN" dirty="0" smtClean="0"/>
              <a:t>    double c = </a:t>
            </a:r>
            <a:r>
              <a:rPr lang="en-IN" dirty="0" err="1" smtClean="0"/>
              <a:t>pow</a:t>
            </a:r>
            <a:r>
              <a:rPr lang="en-IN" dirty="0" smtClean="0"/>
              <a:t>(</a:t>
            </a:r>
            <a:r>
              <a:rPr lang="en-IN" dirty="0" err="1" smtClean="0"/>
              <a:t>msg</a:t>
            </a:r>
            <a:r>
              <a:rPr lang="en-IN" dirty="0" smtClean="0"/>
              <a:t>, e);</a:t>
            </a:r>
          </a:p>
          <a:p>
            <a:pPr fontAlgn="base">
              <a:buNone/>
            </a:pPr>
            <a:r>
              <a:rPr lang="en-IN" dirty="0" smtClean="0"/>
              <a:t>    c = </a:t>
            </a:r>
            <a:r>
              <a:rPr lang="en-IN" dirty="0" err="1" smtClean="0"/>
              <a:t>fmod</a:t>
            </a:r>
            <a:r>
              <a:rPr lang="en-IN" dirty="0" smtClean="0"/>
              <a:t>(c, n);</a:t>
            </a:r>
          </a:p>
          <a:p>
            <a:pPr fontAlgn="base">
              <a:buNone/>
            </a:pPr>
            <a:r>
              <a:rPr lang="en-IN" dirty="0" smtClean="0"/>
              <a:t>    </a:t>
            </a:r>
            <a:r>
              <a:rPr lang="en-IN" dirty="0" err="1" smtClean="0"/>
              <a:t>printf</a:t>
            </a:r>
            <a:r>
              <a:rPr lang="en-IN" dirty="0" smtClean="0"/>
              <a:t>("\</a:t>
            </a:r>
            <a:r>
              <a:rPr lang="en-IN" dirty="0" err="1" smtClean="0"/>
              <a:t>nEncrypted</a:t>
            </a:r>
            <a:r>
              <a:rPr lang="en-IN" dirty="0" smtClean="0"/>
              <a:t> data = %lf", c);</a:t>
            </a:r>
          </a:p>
          <a:p>
            <a:pPr fontAlgn="base">
              <a:buNone/>
            </a:pPr>
            <a:r>
              <a:rPr lang="en-IN" dirty="0" smtClean="0"/>
              <a:t>// Decryption m = (c ^ d) % n</a:t>
            </a:r>
          </a:p>
          <a:p>
            <a:pPr fontAlgn="base">
              <a:buNone/>
            </a:pPr>
            <a:r>
              <a:rPr lang="en-IN" dirty="0" smtClean="0"/>
              <a:t>    double m = </a:t>
            </a:r>
            <a:r>
              <a:rPr lang="en-IN" dirty="0" err="1" smtClean="0"/>
              <a:t>pow</a:t>
            </a:r>
            <a:r>
              <a:rPr lang="en-IN" dirty="0" smtClean="0"/>
              <a:t>(c, d);</a:t>
            </a:r>
          </a:p>
          <a:p>
            <a:pPr fontAlgn="base">
              <a:buNone/>
            </a:pPr>
            <a:r>
              <a:rPr lang="en-IN" dirty="0" smtClean="0"/>
              <a:t>    m = </a:t>
            </a:r>
            <a:r>
              <a:rPr lang="en-IN" dirty="0" err="1" smtClean="0"/>
              <a:t>fmod</a:t>
            </a:r>
            <a:r>
              <a:rPr lang="en-IN" dirty="0" smtClean="0"/>
              <a:t>(m, n);</a:t>
            </a:r>
          </a:p>
          <a:p>
            <a:pPr fontAlgn="base">
              <a:buNone/>
            </a:pPr>
            <a:r>
              <a:rPr lang="en-IN" dirty="0" smtClean="0"/>
              <a:t>    </a:t>
            </a:r>
            <a:r>
              <a:rPr lang="en-IN" dirty="0" err="1" smtClean="0"/>
              <a:t>printf</a:t>
            </a:r>
            <a:r>
              <a:rPr lang="en-IN" dirty="0" smtClean="0"/>
              <a:t>("\</a:t>
            </a:r>
            <a:r>
              <a:rPr lang="en-IN" dirty="0" err="1" smtClean="0"/>
              <a:t>nOriginal</a:t>
            </a:r>
            <a:r>
              <a:rPr lang="en-IN" dirty="0" smtClean="0"/>
              <a:t> Message Sent = %lf", m);</a:t>
            </a:r>
          </a:p>
          <a:p>
            <a:pPr fontAlgn="base">
              <a:buNone/>
            </a:pPr>
            <a:r>
              <a:rPr lang="en-IN" dirty="0" smtClean="0"/>
              <a:t> </a:t>
            </a:r>
          </a:p>
          <a:p>
            <a:pPr fontAlgn="base">
              <a:buNone/>
            </a:pPr>
            <a:r>
              <a:rPr lang="en-IN" dirty="0" smtClean="0"/>
              <a:t>    return 0;</a:t>
            </a:r>
          </a:p>
          <a:p>
            <a:pPr fontAlgn="base">
              <a:buNone/>
            </a:pPr>
            <a:r>
              <a:rPr lang="en-IN" dirty="0" smtClean="0"/>
              <a:t>}</a:t>
            </a:r>
          </a:p>
          <a:p>
            <a:pPr>
              <a:buNone/>
            </a:pPr>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Conclusion: </a:t>
            </a:r>
            <a:endParaRPr lang="en-IN" dirty="0" smtClean="0"/>
          </a:p>
          <a:p>
            <a:r>
              <a:rPr lang="en-US" dirty="0" smtClean="0"/>
              <a:t>The features of public key cryptography and RSA logic are studied.</a:t>
            </a:r>
            <a:endParaRPr lang="en-IN" dirty="0" smtClean="0"/>
          </a:p>
          <a:p>
            <a:pPr>
              <a:buNone/>
            </a:pPr>
            <a:endParaRPr lang="en-IN" dirty="0" smtClean="0"/>
          </a:p>
          <a:p>
            <a:endParaRPr lang="en-IN" dirty="0"/>
          </a:p>
        </p:txBody>
      </p:sp>
      <p:sp>
        <p:nvSpPr>
          <p:cNvPr id="4" name="Title 1"/>
          <p:cNvSpPr>
            <a:spLocks noGrp="1"/>
          </p:cNvSpPr>
          <p:nvPr>
            <p:ph type="title"/>
          </p:nvPr>
        </p:nvSpPr>
        <p:spPr/>
        <p:txBody>
          <a:bodyPr>
            <a:normAutofit/>
          </a:bodyPr>
          <a:lstStyle/>
          <a:p>
            <a:r>
              <a:rPr lang="en-US" sz="4800" b="1" dirty="0" smtClean="0"/>
              <a:t>PRACTICAL NO : 04</a:t>
            </a:r>
            <a:endParaRPr lang="en-IN" sz="4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71480"/>
            <a:ext cx="8229600" cy="1143000"/>
          </a:xfrm>
        </p:spPr>
        <p:txBody>
          <a:bodyPr>
            <a:normAutofit/>
          </a:bodyPr>
          <a:lstStyle/>
          <a:p>
            <a:r>
              <a:rPr lang="en-US" sz="6600" b="1" dirty="0" smtClean="0"/>
              <a:t>PRACTICAL : 06</a:t>
            </a:r>
            <a:endParaRPr lang="en-IN" sz="6600" b="1" dirty="0"/>
          </a:p>
        </p:txBody>
      </p:sp>
      <p:sp>
        <p:nvSpPr>
          <p:cNvPr id="3" name="Content Placeholder 2"/>
          <p:cNvSpPr>
            <a:spLocks noGrp="1"/>
          </p:cNvSpPr>
          <p:nvPr>
            <p:ph idx="1"/>
          </p:nvPr>
        </p:nvSpPr>
        <p:spPr>
          <a:xfrm>
            <a:off x="571472" y="2285992"/>
            <a:ext cx="8229600" cy="2428892"/>
          </a:xfrm>
        </p:spPr>
        <p:txBody>
          <a:bodyPr anchor="ctr"/>
          <a:lstStyle/>
          <a:p>
            <a:pPr algn="ctr">
              <a:buNone/>
            </a:pPr>
            <a:r>
              <a:rPr lang="en-IN" b="1" dirty="0" smtClean="0"/>
              <a:t>WRITE A PROGRAM CHECKING FREQUENCY OF LETTERS IN A THREE DIFFERENT TYPES OF FILES AND ANALYZE THE RESULT</a:t>
            </a:r>
            <a:endParaRPr lang="en-IN" b="1"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43510"/>
          </a:xfrm>
        </p:spPr>
        <p:txBody>
          <a:bodyPr>
            <a:noAutofit/>
          </a:bodyPr>
          <a:lstStyle/>
          <a:p>
            <a:r>
              <a:rPr lang="en-US" sz="2400" b="1" dirty="0" smtClean="0"/>
              <a:t>Aim:</a:t>
            </a:r>
            <a:r>
              <a:rPr lang="en-US" sz="2400" dirty="0" smtClean="0"/>
              <a:t> Write a program checking frequency of letters in a file. Analyze the performance for substitution and transposition ciphers</a:t>
            </a:r>
            <a:endParaRPr lang="en-IN" sz="2400" dirty="0" smtClean="0"/>
          </a:p>
          <a:p>
            <a:r>
              <a:rPr lang="en-US" sz="2400" b="1" dirty="0" smtClean="0"/>
              <a:t>Theory</a:t>
            </a:r>
            <a:r>
              <a:rPr lang="en-US" sz="2400" b="1" dirty="0" smtClean="0"/>
              <a:t>:</a:t>
            </a:r>
            <a:endParaRPr lang="en-IN" sz="2400" dirty="0" smtClean="0"/>
          </a:p>
          <a:p>
            <a:r>
              <a:rPr lang="en-US" sz="2400" b="1" dirty="0" smtClean="0"/>
              <a:t>Frequency Analysis </a:t>
            </a:r>
            <a:endParaRPr lang="en-IN" sz="2400" dirty="0" smtClean="0"/>
          </a:p>
          <a:p>
            <a:r>
              <a:rPr lang="en-US" sz="2400" dirty="0" smtClean="0"/>
              <a:t>Frequency analysis is one of the known </a:t>
            </a:r>
            <a:r>
              <a:rPr lang="en-US" sz="2400" dirty="0" err="1" smtClean="0"/>
              <a:t>ciphertext</a:t>
            </a:r>
            <a:r>
              <a:rPr lang="en-US" sz="2400" dirty="0" smtClean="0"/>
              <a:t> attacks. It is based on the study of the frequency of letters or groups of letters in a </a:t>
            </a:r>
            <a:r>
              <a:rPr lang="en-US" sz="2400" dirty="0" err="1" smtClean="0"/>
              <a:t>ciphertext</a:t>
            </a:r>
            <a:r>
              <a:rPr lang="en-US" sz="2400" dirty="0" smtClean="0"/>
              <a:t>. </a:t>
            </a:r>
            <a:endParaRPr lang="en-IN" sz="2400" dirty="0" smtClean="0"/>
          </a:p>
          <a:p>
            <a:r>
              <a:rPr lang="en-US" sz="2400" dirty="0" smtClean="0"/>
              <a:t>In all languages, different letters are used with different frequencies. For each language proportions of appearance of all characters are slightly different, so texts written in a given language have some certain common properties, which allow distinguishing them from texts written in other languages. </a:t>
            </a:r>
            <a:endParaRPr lang="en-IN" sz="2400" dirty="0" smtClean="0"/>
          </a:p>
          <a:p>
            <a:endParaRPr lang="en-IN" sz="2400"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For example, in English there are often used vowels like e, o, a or a consonant t. On the other hand, there are some very rare letters, for example z or x. There are statements of frequencies of letters in different languages. The frequencies can be determined only approximately because in different kind of texts (scientific, historical, fiction) they are slightly different. </a:t>
            </a:r>
            <a:endParaRPr lang="en-IN"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Each language has some typical and popular sequences of letters. In English, there are some common bigrams, like </a:t>
            </a:r>
            <a:r>
              <a:rPr lang="en-US" dirty="0" err="1" smtClean="0"/>
              <a:t>tr</a:t>
            </a:r>
            <a:r>
              <a:rPr lang="en-US" dirty="0" smtClean="0"/>
              <a:t>, </a:t>
            </a:r>
            <a:r>
              <a:rPr lang="en-US" dirty="0" err="1" smtClean="0"/>
              <a:t>er</a:t>
            </a:r>
            <a:r>
              <a:rPr lang="en-US" dirty="0" smtClean="0"/>
              <a:t>, on, an, </a:t>
            </a:r>
            <a:r>
              <a:rPr lang="en-US" dirty="0" err="1" smtClean="0"/>
              <a:t>ss</a:t>
            </a:r>
            <a:r>
              <a:rPr lang="en-US" dirty="0" smtClean="0"/>
              <a:t>, </a:t>
            </a:r>
            <a:r>
              <a:rPr lang="en-US" dirty="0" err="1" smtClean="0"/>
              <a:t>tt</a:t>
            </a:r>
            <a:r>
              <a:rPr lang="en-US" dirty="0" smtClean="0"/>
              <a:t> and </a:t>
            </a:r>
            <a:r>
              <a:rPr lang="en-US" dirty="0" err="1" smtClean="0"/>
              <a:t>ee</a:t>
            </a:r>
            <a:r>
              <a:rPr lang="en-US" dirty="0" smtClean="0"/>
              <a:t>. Based on that, one can distinguish an English text from texts written in other languages. It is possible to determine the correct order of letters from mixed words. </a:t>
            </a:r>
            <a:endParaRPr lang="en-IN"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Frequency Analysis of Substitution Ciphers </a:t>
            </a:r>
            <a:endParaRPr lang="en-IN" dirty="0" smtClean="0"/>
          </a:p>
          <a:p>
            <a:r>
              <a:rPr lang="en-US" dirty="0" smtClean="0"/>
              <a:t>Frequency analysis is used for breaking substitution ciphers. The general idea is to find the popular letters in the </a:t>
            </a:r>
            <a:r>
              <a:rPr lang="en-US" dirty="0" err="1" smtClean="0"/>
              <a:t>ciphertext</a:t>
            </a:r>
            <a:r>
              <a:rPr lang="en-US" dirty="0" smtClean="0"/>
              <a:t> and try to replace them by the common letters in the used language. </a:t>
            </a:r>
            <a:endParaRPr lang="en-IN"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The attacker usually checks some possibilities and makes some substitutions of letters in cipher text. He looks for possible appearing words and based on that makes more substitutions. Using computers, it is possible to try a lot of combinations in relative short time. </a:t>
            </a:r>
            <a:endParaRPr lang="en-US" dirty="0" smtClean="0"/>
          </a:p>
          <a:p>
            <a:r>
              <a:rPr lang="en-US" dirty="0" smtClean="0"/>
              <a:t>For example, if in the analyzed cipher text the most popular letter is x, one may predict that x replaced e or o (one of the most popular letters in English) from the plaintext. </a:t>
            </a:r>
            <a:endParaRPr lang="en-IN" dirty="0" smtClean="0"/>
          </a:p>
          <a:p>
            <a:endParaRPr lang="en-IN"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It is useful to look for popular pairs of letters or even try to predict some frequent longer sequences of letters or whole words. The intruder always tries to find sequences of letters which are often used in the selected language. </a:t>
            </a:r>
            <a:endParaRPr lang="en-IN"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PROCEDURE</a:t>
            </a:r>
            <a:r>
              <a:rPr lang="en-US" dirty="0" smtClean="0"/>
              <a:t> </a:t>
            </a:r>
            <a:r>
              <a:rPr lang="en-US" b="1" dirty="0" smtClean="0"/>
              <a:t>:</a:t>
            </a:r>
          </a:p>
          <a:p>
            <a:pPr fontAlgn="base"/>
            <a:r>
              <a:rPr lang="en-IN" dirty="0" smtClean="0"/>
              <a:t>Read the file.</a:t>
            </a:r>
          </a:p>
          <a:p>
            <a:pPr fontAlgn="base"/>
            <a:r>
              <a:rPr lang="en-IN" dirty="0" smtClean="0"/>
              <a:t>Store the content of the file in a variable.</a:t>
            </a:r>
          </a:p>
          <a:p>
            <a:pPr fontAlgn="base"/>
            <a:r>
              <a:rPr lang="en-IN" dirty="0" smtClean="0"/>
              <a:t>Use the </a:t>
            </a:r>
            <a:r>
              <a:rPr lang="en-IN" i="1" dirty="0" smtClean="0"/>
              <a:t>count() </a:t>
            </a:r>
            <a:r>
              <a:rPr lang="en-IN" dirty="0" smtClean="0"/>
              <a:t>method with the argument as a letter whose frequency is required.</a:t>
            </a:r>
          </a:p>
          <a:p>
            <a:pPr fontAlgn="base"/>
            <a:r>
              <a:rPr lang="en-IN" dirty="0" smtClean="0"/>
              <a:t>Display the count of the letter.</a:t>
            </a:r>
          </a:p>
          <a:p>
            <a:pPr>
              <a:buNone/>
            </a:pPr>
            <a:endParaRPr lang="en-US" dirty="0" smtClean="0"/>
          </a:p>
          <a:p>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b="1" dirty="0" smtClean="0"/>
              <a:t>Python Program :</a:t>
            </a:r>
          </a:p>
          <a:p>
            <a:pPr>
              <a:buNone/>
            </a:pPr>
            <a:r>
              <a:rPr lang="en-IN" dirty="0" smtClean="0"/>
              <a:t># Program to get letter count in a text </a:t>
            </a:r>
            <a:r>
              <a:rPr lang="en-IN" dirty="0" smtClean="0"/>
              <a:t>file</a:t>
            </a:r>
          </a:p>
          <a:p>
            <a:pPr fontAlgn="base">
              <a:buNone/>
            </a:pPr>
            <a:r>
              <a:rPr lang="en-IN" dirty="0" smtClean="0"/>
              <a:t># explicit function to return the letter count</a:t>
            </a:r>
          </a:p>
          <a:p>
            <a:pPr fontAlgn="base">
              <a:buNone/>
            </a:pPr>
            <a:r>
              <a:rPr lang="en-IN" dirty="0" smtClean="0"/>
              <a:t>def </a:t>
            </a:r>
            <a:r>
              <a:rPr lang="en-IN" dirty="0" err="1" smtClean="0"/>
              <a:t>letterFrequency</a:t>
            </a:r>
            <a:r>
              <a:rPr lang="en-IN" dirty="0" smtClean="0"/>
              <a:t>(</a:t>
            </a:r>
            <a:r>
              <a:rPr lang="en-IN" dirty="0" err="1" smtClean="0"/>
              <a:t>fileName</a:t>
            </a:r>
            <a:r>
              <a:rPr lang="en-IN" dirty="0" smtClean="0"/>
              <a:t>, letter):</a:t>
            </a:r>
          </a:p>
          <a:p>
            <a:pPr fontAlgn="base">
              <a:buNone/>
            </a:pPr>
            <a:r>
              <a:rPr lang="en-IN" dirty="0" smtClean="0"/>
              <a:t># </a:t>
            </a:r>
            <a:r>
              <a:rPr lang="en-IN" dirty="0" smtClean="0"/>
              <a:t>open file in read mode</a:t>
            </a:r>
          </a:p>
          <a:p>
            <a:pPr fontAlgn="base">
              <a:buNone/>
            </a:pPr>
            <a:r>
              <a:rPr lang="en-IN" dirty="0" smtClean="0"/>
              <a:t>    file = open(</a:t>
            </a:r>
            <a:r>
              <a:rPr lang="en-IN" dirty="0" err="1" smtClean="0"/>
              <a:t>fileName</a:t>
            </a:r>
            <a:r>
              <a:rPr lang="en-IN" dirty="0" smtClean="0"/>
              <a:t>, 'r</a:t>
            </a:r>
            <a:r>
              <a:rPr lang="en-IN" dirty="0" smtClean="0"/>
              <a:t>')</a:t>
            </a:r>
          </a:p>
          <a:p>
            <a:pPr fontAlgn="base">
              <a:buNone/>
            </a:pPr>
            <a:r>
              <a:rPr lang="en-IN" dirty="0" smtClean="0"/>
              <a:t>   # store content of the file in a variable</a:t>
            </a:r>
          </a:p>
          <a:p>
            <a:pPr fontAlgn="base">
              <a:buNone/>
            </a:pPr>
            <a:r>
              <a:rPr lang="en-IN" dirty="0" smtClean="0"/>
              <a:t>    text = </a:t>
            </a:r>
            <a:r>
              <a:rPr lang="en-IN" dirty="0" err="1" smtClean="0"/>
              <a:t>file.read</a:t>
            </a:r>
            <a:r>
              <a:rPr lang="en-IN" dirty="0" smtClean="0"/>
              <a:t>()</a:t>
            </a:r>
          </a:p>
          <a:p>
            <a:pPr fontAlgn="base">
              <a:buNone/>
            </a:pPr>
            <a:endParaRPr lang="en-IN" dirty="0" smtClean="0"/>
          </a:p>
          <a:p>
            <a:pPr>
              <a:buNone/>
            </a:pPr>
            <a:endParaRPr lang="en-IN" dirty="0" smtClean="0"/>
          </a:p>
        </p:txBody>
      </p:sp>
      <p:sp>
        <p:nvSpPr>
          <p:cNvPr id="4" name="Title 1"/>
          <p:cNvSpPr>
            <a:spLocks noGrp="1"/>
          </p:cNvSpPr>
          <p:nvPr>
            <p:ph type="title"/>
          </p:nvPr>
        </p:nvSpPr>
        <p:spPr>
          <a:xfrm>
            <a:off x="457200" y="357188"/>
            <a:ext cx="8229600" cy="1143000"/>
          </a:xfrm>
        </p:spPr>
        <p:txBody>
          <a:bodyPr>
            <a:normAutofit/>
          </a:bodyPr>
          <a:lstStyle/>
          <a:p>
            <a:r>
              <a:rPr lang="en-US" sz="6600" b="1" dirty="0" smtClean="0"/>
              <a:t>PRACTICAL : 06</a:t>
            </a:r>
            <a:endParaRPr lang="en-IN" sz="66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None/>
            </a:pPr>
            <a:r>
              <a:rPr lang="en-IN" dirty="0" smtClean="0"/>
              <a:t> # using count()</a:t>
            </a:r>
          </a:p>
          <a:p>
            <a:pPr fontAlgn="base">
              <a:buNone/>
            </a:pPr>
            <a:r>
              <a:rPr lang="en-IN" dirty="0" smtClean="0"/>
              <a:t>    return </a:t>
            </a:r>
            <a:r>
              <a:rPr lang="en-IN" dirty="0" err="1" smtClean="0"/>
              <a:t>text.count</a:t>
            </a:r>
            <a:r>
              <a:rPr lang="en-IN" dirty="0" smtClean="0"/>
              <a:t>(letter</a:t>
            </a:r>
            <a:r>
              <a:rPr lang="en-IN" dirty="0" smtClean="0"/>
              <a:t>)</a:t>
            </a:r>
          </a:p>
          <a:p>
            <a:pPr fontAlgn="base">
              <a:buNone/>
            </a:pPr>
            <a:r>
              <a:rPr lang="en-IN" dirty="0" smtClean="0"/>
              <a:t># call the function and display the letter count</a:t>
            </a:r>
          </a:p>
          <a:p>
            <a:pPr fontAlgn="base">
              <a:buNone/>
            </a:pPr>
            <a:r>
              <a:rPr lang="en-IN" dirty="0" smtClean="0"/>
              <a:t>print(</a:t>
            </a:r>
            <a:r>
              <a:rPr lang="en-IN" dirty="0" err="1" smtClean="0"/>
              <a:t>letterFrequency</a:t>
            </a:r>
            <a:r>
              <a:rPr lang="en-IN" dirty="0" smtClean="0"/>
              <a:t>(‘a.txt</a:t>
            </a:r>
            <a:r>
              <a:rPr lang="en-IN" dirty="0" smtClean="0"/>
              <a:t>', </a:t>
            </a:r>
            <a:r>
              <a:rPr lang="en-IN" dirty="0" smtClean="0"/>
              <a:t>‘i'))</a:t>
            </a:r>
            <a:endParaRPr lang="en-IN" dirty="0" smtClean="0"/>
          </a:p>
          <a:p>
            <a:pPr fontAlgn="base">
              <a:buNone/>
            </a:pPr>
            <a:endParaRPr lang="en-IN" dirty="0" smtClean="0"/>
          </a:p>
          <a:p>
            <a:pPr>
              <a:buNone/>
            </a:pPr>
            <a:endParaRPr lang="en-IN"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CONCLUSION :</a:t>
            </a:r>
          </a:p>
          <a:p>
            <a:endParaRPr lang="en-IN" b="1" dirty="0"/>
          </a:p>
        </p:txBody>
      </p:sp>
      <p:sp>
        <p:nvSpPr>
          <p:cNvPr id="4" name="Title 1"/>
          <p:cNvSpPr>
            <a:spLocks noGrp="1"/>
          </p:cNvSpPr>
          <p:nvPr>
            <p:ph type="title"/>
          </p:nvPr>
        </p:nvSpPr>
        <p:spPr/>
        <p:txBody>
          <a:bodyPr>
            <a:normAutofit/>
          </a:bodyPr>
          <a:lstStyle/>
          <a:p>
            <a:r>
              <a:rPr lang="en-US" sz="6600" b="1" dirty="0" smtClean="0"/>
              <a:t>PRACTICAL : 06</a:t>
            </a:r>
            <a:endParaRPr lang="en-IN" sz="6600" b="1"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071546"/>
            <a:ext cx="8229600" cy="1143000"/>
          </a:xfrm>
        </p:spPr>
        <p:txBody>
          <a:bodyPr/>
          <a:lstStyle/>
          <a:p>
            <a:r>
              <a:rPr lang="en-US" b="1" dirty="0" smtClean="0"/>
              <a:t>PRACTICAL NO : 07</a:t>
            </a:r>
            <a:endParaRPr lang="en-IN" dirty="0"/>
          </a:p>
        </p:txBody>
      </p:sp>
      <p:sp>
        <p:nvSpPr>
          <p:cNvPr id="3" name="Content Placeholder 2"/>
          <p:cNvSpPr>
            <a:spLocks noGrp="1"/>
          </p:cNvSpPr>
          <p:nvPr>
            <p:ph idx="1"/>
          </p:nvPr>
        </p:nvSpPr>
        <p:spPr>
          <a:xfrm>
            <a:off x="457200" y="3171837"/>
            <a:ext cx="8229600" cy="1971675"/>
          </a:xfrm>
        </p:spPr>
        <p:txBody>
          <a:bodyPr>
            <a:normAutofit/>
          </a:bodyPr>
          <a:lstStyle/>
          <a:p>
            <a:pPr algn="ctr">
              <a:buNone/>
            </a:pPr>
            <a:r>
              <a:rPr lang="en-IN" sz="4400" b="1" dirty="0" smtClean="0"/>
              <a:t>Write a program for implementation of Radix -64</a:t>
            </a:r>
            <a:endParaRPr lang="en-IN" sz="4400" b="1"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257800"/>
          </a:xfrm>
        </p:spPr>
        <p:txBody>
          <a:bodyPr>
            <a:noAutofit/>
          </a:bodyPr>
          <a:lstStyle/>
          <a:p>
            <a:r>
              <a:rPr lang="en-US" b="1" dirty="0" smtClean="0"/>
              <a:t>Aim</a:t>
            </a:r>
            <a:r>
              <a:rPr lang="en-US" dirty="0" smtClean="0"/>
              <a:t>: Write a program for implementation Radix-64.</a:t>
            </a:r>
            <a:endParaRPr lang="en-IN" dirty="0" smtClean="0"/>
          </a:p>
          <a:p>
            <a:r>
              <a:rPr lang="en-US" b="1" dirty="0" smtClean="0"/>
              <a:t>Theory:</a:t>
            </a:r>
          </a:p>
          <a:p>
            <a:r>
              <a:rPr lang="en-IN" dirty="0" smtClean="0"/>
              <a:t>The character set in base64 is </a:t>
            </a:r>
          </a:p>
          <a:p>
            <a:r>
              <a:rPr lang="en-IN" b="1" dirty="0" err="1" smtClean="0"/>
              <a:t>char_set</a:t>
            </a:r>
            <a:r>
              <a:rPr lang="en-IN" dirty="0" smtClean="0"/>
              <a:t> = "ABCDEFGHIJKLMNOPQRSTUVWXYZ</a:t>
            </a:r>
            <a:br>
              <a:rPr lang="en-IN" dirty="0" smtClean="0"/>
            </a:br>
            <a:r>
              <a:rPr lang="en-IN" dirty="0" smtClean="0"/>
              <a:t>abcdefghijklmnopqrstuvwxyz0123456789+/" </a:t>
            </a:r>
            <a:br>
              <a:rPr lang="en-IN" dirty="0" smtClean="0"/>
            </a:br>
            <a:r>
              <a:rPr lang="en-IN" dirty="0" smtClean="0"/>
              <a:t>// 64 characters</a:t>
            </a:r>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16"/>
          <p:cNvPicPr>
            <a:picLocks noChangeAspect="1" noChangeArrowheads="1"/>
          </p:cNvPicPr>
          <p:nvPr/>
        </p:nvPicPr>
        <p:blipFill>
          <a:blip r:embed="rId2"/>
          <a:srcRect/>
          <a:stretch>
            <a:fillRect/>
          </a:stretch>
        </p:blipFill>
        <p:spPr bwMode="auto">
          <a:xfrm>
            <a:off x="276243" y="1857364"/>
            <a:ext cx="8302911" cy="4643470"/>
          </a:xfrm>
          <a:prstGeom prst="rect">
            <a:avLst/>
          </a:prstGeom>
          <a:noFill/>
          <a:ln w="9525">
            <a:noFill/>
            <a:miter lim="800000"/>
            <a:headEnd/>
            <a:tailEnd/>
          </a:ln>
        </p:spPr>
      </p:pic>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IN" b="1" dirty="0" smtClean="0"/>
              <a:t>Basic idea</a:t>
            </a:r>
            <a:endParaRPr lang="en-IN" dirty="0" smtClean="0"/>
          </a:p>
          <a:p>
            <a:pPr fontAlgn="base"/>
            <a:r>
              <a:rPr lang="en-IN" dirty="0" smtClean="0"/>
              <a:t>Lets take an example. </a:t>
            </a:r>
          </a:p>
          <a:p>
            <a:pPr fontAlgn="base"/>
            <a:r>
              <a:rPr lang="en-IN" dirty="0" smtClean="0"/>
              <a:t>We have to encode string “MENON” into base64 format. </a:t>
            </a:r>
          </a:p>
          <a:p>
            <a:pPr fontAlgn="base"/>
            <a:r>
              <a:rPr lang="en-IN" dirty="0" smtClean="0"/>
              <a:t>Lets call “MENON” as </a:t>
            </a:r>
            <a:r>
              <a:rPr lang="en-IN" b="1" dirty="0" err="1" smtClean="0"/>
              <a:t>input_str</a:t>
            </a:r>
            <a:r>
              <a:rPr lang="en-IN" dirty="0" smtClean="0"/>
              <a:t>, above base64 character set (“ABC..+/”) as </a:t>
            </a:r>
            <a:r>
              <a:rPr lang="en-IN" b="1" dirty="0" err="1" smtClean="0"/>
              <a:t>char_set</a:t>
            </a:r>
            <a:r>
              <a:rPr lang="en-IN" dirty="0" smtClean="0"/>
              <a:t> and resultant encoded string as </a:t>
            </a:r>
            <a:r>
              <a:rPr lang="en-IN" b="1" dirty="0" err="1" smtClean="0"/>
              <a:t>res_str</a:t>
            </a:r>
            <a:r>
              <a:rPr lang="en-IN" dirty="0" smtClean="0"/>
              <a:t>. </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IN" dirty="0" smtClean="0"/>
              <a:t>Take 3 characters from </a:t>
            </a:r>
            <a:r>
              <a:rPr lang="en-IN" b="1" dirty="0" err="1" smtClean="0"/>
              <a:t>input_str</a:t>
            </a:r>
            <a:r>
              <a:rPr lang="en-IN" dirty="0" smtClean="0"/>
              <a:t> </a:t>
            </a:r>
            <a:r>
              <a:rPr lang="en-IN" dirty="0" err="1" smtClean="0"/>
              <a:t>i.e</a:t>
            </a:r>
            <a:r>
              <a:rPr lang="en-IN" dirty="0" smtClean="0"/>
              <a:t> “MEN” since each character size is 8 bits we will have(8 * 3) 24 bits with us.</a:t>
            </a:r>
          </a:p>
          <a:p>
            <a:pPr marL="514350" indent="-514350">
              <a:buFont typeface="+mj-lt"/>
              <a:buAutoNum type="arabicPeriod"/>
            </a:pPr>
            <a:r>
              <a:rPr lang="en-IN" dirty="0" smtClean="0"/>
              <a:t>Group them in a block of 6 bits each (24 / 6 = 4 blocks). (why 6?) because 2^6 = 64 characters, with 6 bits we can represent each character in </a:t>
            </a:r>
            <a:r>
              <a:rPr lang="en-IN" b="1" dirty="0" err="1" smtClean="0"/>
              <a:t>char_set</a:t>
            </a:r>
            <a:r>
              <a:rPr lang="en-IN" dirty="0" smtClean="0"/>
              <a:t>.</a:t>
            </a:r>
          </a:p>
          <a:p>
            <a:pPr marL="514350" indent="-514350">
              <a:buFont typeface="+mj-lt"/>
              <a:buAutoNum type="arabicPeriod"/>
            </a:pPr>
            <a:r>
              <a:rPr lang="en-IN" dirty="0" smtClean="0"/>
              <a:t>Convert each block of 6 bits to its corresponding decimal value. Decimal value obtained is the index of resultant encoded character in </a:t>
            </a:r>
            <a:r>
              <a:rPr lang="en-IN" b="1" dirty="0" err="1" smtClean="0"/>
              <a:t>char_set</a:t>
            </a:r>
            <a:r>
              <a:rPr lang="en-IN" dirty="0" smtClean="0"/>
              <a:t>.</a:t>
            </a:r>
          </a:p>
          <a:p>
            <a:pPr marL="514350" indent="-514350">
              <a:buFont typeface="+mj-lt"/>
              <a:buAutoNum type="arabicPeriod"/>
            </a:pP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startAt="4"/>
            </a:pPr>
            <a:r>
              <a:rPr lang="en-IN" dirty="0" smtClean="0"/>
              <a:t>So for each 3 characters from </a:t>
            </a:r>
            <a:r>
              <a:rPr lang="en-IN" b="1" dirty="0" err="1" smtClean="0"/>
              <a:t>input_str</a:t>
            </a:r>
            <a:r>
              <a:rPr lang="en-IN" dirty="0" smtClean="0"/>
              <a:t> we will receive 4 characters in </a:t>
            </a:r>
            <a:r>
              <a:rPr lang="en-IN" b="1" dirty="0" err="1" smtClean="0"/>
              <a:t>res_str</a:t>
            </a:r>
            <a:r>
              <a:rPr lang="en-IN" dirty="0" smtClean="0"/>
              <a:t>.</a:t>
            </a:r>
          </a:p>
          <a:p>
            <a:pPr marL="514350" indent="-514350">
              <a:buFont typeface="+mj-lt"/>
              <a:buAutoNum type="arabicPeriod" startAt="4"/>
            </a:pPr>
            <a:r>
              <a:rPr lang="en-IN" dirty="0" smtClean="0"/>
              <a:t>What if we have less than 3 characters in </a:t>
            </a:r>
            <a:r>
              <a:rPr lang="en-IN" b="1" dirty="0" err="1" smtClean="0"/>
              <a:t>input_str</a:t>
            </a:r>
            <a:r>
              <a:rPr lang="en-IN" dirty="0" smtClean="0"/>
              <a:t> left </a:t>
            </a:r>
            <a:r>
              <a:rPr lang="en-IN" dirty="0" err="1" smtClean="0"/>
              <a:t>i.e</a:t>
            </a:r>
            <a:r>
              <a:rPr lang="en-IN" dirty="0" smtClean="0"/>
              <a:t> “ON”. We have 16 bits and blocks will be 16 / 6 = 2 blocks. Rightmost 4 bits will not make a proper block (1 block = 6 bits) so we append zeros to right side of block to make it a proper block </a:t>
            </a:r>
            <a:r>
              <a:rPr lang="en-IN" dirty="0" err="1" smtClean="0"/>
              <a:t>i.e</a:t>
            </a:r>
            <a:r>
              <a:rPr lang="en-IN" dirty="0" smtClean="0"/>
              <a:t> 2 zeros will be appended to right. Now we have 3 proper blocks, find corresponding decimal value of each block to get index.</a:t>
            </a:r>
          </a:p>
          <a:p>
            <a:pPr marL="514350" indent="-514350">
              <a:buFont typeface="+mj-lt"/>
              <a:buAutoNum type="arabicPeriod" startAt="4"/>
            </a:pP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6. Since There were less than 3 characters (“ON”) in </a:t>
            </a:r>
            <a:r>
              <a:rPr lang="en-IN" b="1" dirty="0" err="1" smtClean="0"/>
              <a:t>input_str</a:t>
            </a:r>
            <a:r>
              <a:rPr lang="en-IN" dirty="0" smtClean="0"/>
              <a:t> we will append “=” in </a:t>
            </a:r>
            <a:r>
              <a:rPr lang="en-IN" dirty="0" err="1" smtClean="0"/>
              <a:t>res_str</a:t>
            </a:r>
            <a:r>
              <a:rPr lang="en-IN" dirty="0" smtClean="0"/>
              <a:t>. </a:t>
            </a:r>
            <a:r>
              <a:rPr lang="en-IN" dirty="0" err="1" smtClean="0"/>
              <a:t>e.g</a:t>
            </a:r>
            <a:r>
              <a:rPr lang="en-IN" dirty="0" smtClean="0"/>
              <a:t> “ON” here 3 – 2 = 1 padding of “=” in </a:t>
            </a:r>
            <a:r>
              <a:rPr lang="en-IN" b="1" dirty="0" err="1" smtClean="0"/>
              <a:t>res_str</a:t>
            </a:r>
            <a:r>
              <a:rPr lang="en-IN" dirty="0" smtClean="0"/>
              <a:t>.</a:t>
            </a:r>
          </a:p>
          <a:p>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fontAlgn="base"/>
            <a:r>
              <a:rPr lang="en-IN" b="1" dirty="0" smtClean="0"/>
              <a:t>Example</a:t>
            </a:r>
            <a:r>
              <a:rPr lang="en-IN" dirty="0" smtClean="0"/>
              <a:t/>
            </a:r>
            <a:br>
              <a:rPr lang="en-IN" dirty="0" smtClean="0"/>
            </a:br>
            <a:r>
              <a:rPr lang="en-IN" dirty="0" smtClean="0"/>
              <a:t>1. Convert “MENON” into its (8 bit) binary state format. Take each characters of the string and write its 8 – bit binary representation. </a:t>
            </a:r>
            <a:br>
              <a:rPr lang="en-IN" dirty="0" smtClean="0"/>
            </a:br>
            <a:r>
              <a:rPr lang="en-IN" dirty="0" smtClean="0"/>
              <a:t>ASCII values of characters in string to be encoded </a:t>
            </a:r>
          </a:p>
          <a:p>
            <a:pPr fontAlgn="base"/>
            <a:r>
              <a:rPr lang="pt-BR" dirty="0" smtClean="0"/>
              <a:t>M : 77 (01001101), E : 69 (01000101), </a:t>
            </a:r>
            <a:br>
              <a:rPr lang="pt-BR" dirty="0" smtClean="0"/>
            </a:br>
            <a:r>
              <a:rPr lang="pt-BR" dirty="0" smtClean="0"/>
              <a:t>N : 78 (01001110), O : 79 (01001111), N : 78 (01001110)</a:t>
            </a:r>
            <a:endParaRPr lang="en-IN" dirty="0" smtClean="0"/>
          </a:p>
          <a:p>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fontAlgn="base"/>
            <a:r>
              <a:rPr lang="en-IN" dirty="0" smtClean="0"/>
              <a:t> Resultant binary data of above string is : </a:t>
            </a:r>
            <a:br>
              <a:rPr lang="en-IN" dirty="0" smtClean="0"/>
            </a:br>
            <a:r>
              <a:rPr lang="en-IN" dirty="0" smtClean="0"/>
              <a:t> 01001101 01000101 01001110 01001111 01001110</a:t>
            </a:r>
          </a:p>
          <a:p>
            <a:pPr marL="0" indent="0" fontAlgn="base">
              <a:buNone/>
            </a:pPr>
            <a:r>
              <a:rPr lang="en-IN" dirty="0" smtClean="0"/>
              <a:t/>
            </a:r>
            <a:br>
              <a:rPr lang="en-IN" dirty="0" smtClean="0"/>
            </a:br>
            <a:r>
              <a:rPr lang="en-IN" dirty="0" smtClean="0"/>
              <a:t>2. Starting from left make blocks of </a:t>
            </a:r>
            <a:r>
              <a:rPr lang="en-IN" b="1" dirty="0" smtClean="0"/>
              <a:t>6</a:t>
            </a:r>
            <a:r>
              <a:rPr lang="en-IN" dirty="0" smtClean="0"/>
              <a:t> bits until all bits are covered </a:t>
            </a:r>
            <a:br>
              <a:rPr lang="en-IN" dirty="0" smtClean="0"/>
            </a:br>
            <a:r>
              <a:rPr lang="en-IN" dirty="0" smtClean="0"/>
              <a:t>BIT-STREAM : </a:t>
            </a:r>
          </a:p>
          <a:p>
            <a:pPr marL="0" indent="0" fontAlgn="base">
              <a:buNone/>
            </a:pPr>
            <a:r>
              <a:rPr lang="en-IN" dirty="0" smtClean="0"/>
              <a:t>(010011) (010100) (010101) (001110) (010011) (110100) (1110)</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3. If the rightmost block is less than 6 bits just append zeros to the right of that block to make it 6 bits. Here in above example we have to appended 2 zeros to make it 6. </a:t>
            </a:r>
            <a:br>
              <a:rPr lang="en-IN" dirty="0" smtClean="0"/>
            </a:br>
            <a:r>
              <a:rPr lang="en-IN" dirty="0" smtClean="0"/>
              <a:t>BIT-STREAM : </a:t>
            </a:r>
          </a:p>
          <a:p>
            <a:pPr>
              <a:buNone/>
            </a:pPr>
            <a:r>
              <a:rPr lang="en-IN" dirty="0" smtClean="0"/>
              <a:t>(010011) (010100) (010101) (001110) (010011) (110100) (1110</a:t>
            </a:r>
            <a:r>
              <a:rPr lang="en-IN" b="1" dirty="0" smtClean="0"/>
              <a:t>00</a:t>
            </a:r>
            <a:r>
              <a:rPr lang="en-IN" dirty="0" smtClean="0"/>
              <a:t>)</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4. Take 3 characters from </a:t>
            </a:r>
            <a:r>
              <a:rPr lang="en-IN" dirty="0" err="1" smtClean="0"/>
              <a:t>input_str</a:t>
            </a:r>
            <a:r>
              <a:rPr lang="en-IN" dirty="0" smtClean="0"/>
              <a:t> (“MEN”) </a:t>
            </a:r>
            <a:r>
              <a:rPr lang="en-IN" dirty="0" err="1" smtClean="0"/>
              <a:t>i.e</a:t>
            </a:r>
            <a:r>
              <a:rPr lang="en-IN" dirty="0" smtClean="0"/>
              <a:t> 24 bits and find corresponding decimal value (index to </a:t>
            </a:r>
            <a:r>
              <a:rPr lang="en-IN" dirty="0" err="1" smtClean="0"/>
              <a:t>char_set</a:t>
            </a:r>
            <a:r>
              <a:rPr lang="en-IN" dirty="0" smtClean="0"/>
              <a:t>). </a:t>
            </a:r>
            <a:br>
              <a:rPr lang="en-IN" dirty="0" smtClean="0"/>
            </a:br>
            <a:r>
              <a:rPr lang="en-IN" dirty="0" smtClean="0"/>
              <a:t>BLOCKS : </a:t>
            </a:r>
          </a:p>
          <a:p>
            <a:pPr>
              <a:buNone/>
            </a:pPr>
            <a:r>
              <a:rPr lang="en-IN" dirty="0" smtClean="0"/>
              <a:t>INDEX --&gt; (010011) : 19, (010100) : 20, (010101) : 21, (001110) : 14</a:t>
            </a:r>
            <a:br>
              <a:rPr lang="en-IN" dirty="0" smtClean="0"/>
            </a:br>
            <a:r>
              <a:rPr lang="en-IN" dirty="0" err="1" smtClean="0"/>
              <a:t>char_set</a:t>
            </a:r>
            <a:r>
              <a:rPr lang="en-IN" dirty="0" smtClean="0"/>
              <a:t>[19] = T, </a:t>
            </a:r>
            <a:r>
              <a:rPr lang="en-IN" dirty="0" err="1" smtClean="0"/>
              <a:t>char_set</a:t>
            </a:r>
            <a:r>
              <a:rPr lang="en-IN" dirty="0" smtClean="0"/>
              <a:t>[20] = U, </a:t>
            </a:r>
            <a:r>
              <a:rPr lang="en-IN" dirty="0" err="1" smtClean="0"/>
              <a:t>char_set</a:t>
            </a:r>
            <a:r>
              <a:rPr lang="en-IN" dirty="0" smtClean="0"/>
              <a:t>[21] = V, </a:t>
            </a:r>
            <a:r>
              <a:rPr lang="en-IN" dirty="0" err="1" smtClean="0"/>
              <a:t>char_set</a:t>
            </a:r>
            <a:r>
              <a:rPr lang="en-IN" dirty="0" smtClean="0"/>
              <a:t>[14] = O</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IN" dirty="0" smtClean="0"/>
              <a:t>So our </a:t>
            </a:r>
            <a:r>
              <a:rPr lang="en-IN" dirty="0" err="1" smtClean="0"/>
              <a:t>input_str</a:t>
            </a:r>
            <a:r>
              <a:rPr lang="en-IN" dirty="0" smtClean="0"/>
              <a:t> = “MEN” will be converted to encoded string “TUVO”.</a:t>
            </a:r>
          </a:p>
          <a:p>
            <a:pPr>
              <a:buNone/>
            </a:pPr>
            <a:r>
              <a:rPr lang="en-IN" dirty="0" smtClean="0"/>
              <a:t>5. Take remaining characters (“ON”). We have to pad resultant encoded string with 1 “=” as number of characters is less than 3 in </a:t>
            </a:r>
            <a:r>
              <a:rPr lang="en-IN" dirty="0" err="1" smtClean="0"/>
              <a:t>input_str</a:t>
            </a:r>
            <a:r>
              <a:rPr lang="en-IN" dirty="0" smtClean="0"/>
              <a:t>. (3 – 2 = 1 padding) </a:t>
            </a:r>
            <a:br>
              <a:rPr lang="en-IN" dirty="0" smtClean="0"/>
            </a:br>
            <a:r>
              <a:rPr lang="en-IN" dirty="0" smtClean="0"/>
              <a:t>BLOCKS : </a:t>
            </a:r>
          </a:p>
          <a:p>
            <a:pPr>
              <a:buNone/>
            </a:pPr>
            <a:r>
              <a:rPr lang="en-IN" dirty="0" smtClean="0"/>
              <a:t>INDEX --&gt; (010011) : 19 (110100) : 52 (1110</a:t>
            </a:r>
            <a:r>
              <a:rPr lang="en-IN" b="1" dirty="0" smtClean="0"/>
              <a:t>00</a:t>
            </a:r>
            <a:r>
              <a:rPr lang="en-IN" dirty="0" smtClean="0"/>
              <a:t>) : 56</a:t>
            </a:r>
            <a:br>
              <a:rPr lang="en-IN" dirty="0" smtClean="0"/>
            </a:br>
            <a:r>
              <a:rPr lang="en-IN" dirty="0" err="1" smtClean="0"/>
              <a:t>char_set</a:t>
            </a:r>
            <a:r>
              <a:rPr lang="en-IN" dirty="0" smtClean="0"/>
              <a:t>[19] = T </a:t>
            </a:r>
            <a:r>
              <a:rPr lang="en-IN" dirty="0" err="1" smtClean="0"/>
              <a:t>char_set</a:t>
            </a:r>
            <a:r>
              <a:rPr lang="en-IN" dirty="0" smtClean="0"/>
              <a:t>[52] = 0 </a:t>
            </a:r>
            <a:r>
              <a:rPr lang="en-IN" dirty="0" err="1" smtClean="0"/>
              <a:t>char_set</a:t>
            </a:r>
            <a:r>
              <a:rPr lang="en-IN" dirty="0" smtClean="0"/>
              <a:t>[56] = 4</a:t>
            </a:r>
            <a:br>
              <a:rPr lang="en-IN" dirty="0" smtClean="0"/>
            </a:br>
            <a:r>
              <a:rPr lang="en-IN" dirty="0" smtClean="0"/>
              <a:t>So our </a:t>
            </a:r>
            <a:r>
              <a:rPr lang="en-IN" dirty="0" err="1" smtClean="0"/>
              <a:t>input_str</a:t>
            </a:r>
            <a:r>
              <a:rPr lang="en-IN" dirty="0" smtClean="0"/>
              <a:t> = "ON" will be converted to encoded string "T04=".</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smtClean="0"/>
              <a:t>Input : MENON // string in ASCII</a:t>
            </a:r>
            <a:br>
              <a:rPr lang="en-IN" dirty="0" smtClean="0"/>
            </a:br>
            <a:r>
              <a:rPr lang="en-IN" dirty="0" smtClean="0"/>
              <a:t>Output :TUVOT04= // encoded string in Base 64.</a:t>
            </a:r>
          </a:p>
          <a:p>
            <a:pPr fontAlgn="base"/>
            <a:r>
              <a:rPr lang="en-IN" dirty="0" smtClean="0"/>
              <a:t> </a:t>
            </a:r>
            <a:r>
              <a:rPr lang="en-IN" b="1" dirty="0" smtClean="0"/>
              <a:t>Approach </a:t>
            </a:r>
            <a:r>
              <a:rPr lang="en-IN" dirty="0" smtClean="0"/>
              <a:t>:</a:t>
            </a:r>
          </a:p>
          <a:p>
            <a:r>
              <a:rPr lang="en-IN" dirty="0" smtClean="0"/>
              <a:t>We can use bitwise operators to encode our string.</a:t>
            </a:r>
          </a:p>
          <a:p>
            <a:r>
              <a:rPr lang="en-IN" dirty="0" smtClean="0"/>
              <a:t>We can take an integer “</a:t>
            </a:r>
            <a:r>
              <a:rPr lang="en-IN" dirty="0" err="1" smtClean="0"/>
              <a:t>val</a:t>
            </a:r>
            <a:r>
              <a:rPr lang="en-IN" dirty="0" smtClean="0"/>
              <a:t>” and store all characters of </a:t>
            </a:r>
            <a:r>
              <a:rPr lang="en-IN" dirty="0" err="1" smtClean="0"/>
              <a:t>input_str</a:t>
            </a:r>
            <a:r>
              <a:rPr lang="en-IN" dirty="0" smtClean="0"/>
              <a:t> (3 at a time) in val.</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dirty="0" smtClean="0"/>
              <a:t>The characters from </a:t>
            </a:r>
            <a:r>
              <a:rPr lang="en-IN" dirty="0" err="1" smtClean="0"/>
              <a:t>input_str</a:t>
            </a:r>
            <a:r>
              <a:rPr lang="en-IN" dirty="0" smtClean="0"/>
              <a:t> will be stored in </a:t>
            </a:r>
            <a:r>
              <a:rPr lang="en-IN" dirty="0" err="1" smtClean="0"/>
              <a:t>val</a:t>
            </a:r>
            <a:r>
              <a:rPr lang="en-IN" dirty="0" smtClean="0"/>
              <a:t> in form of bits.</a:t>
            </a:r>
          </a:p>
          <a:p>
            <a:r>
              <a:rPr lang="en-IN" dirty="0" smtClean="0"/>
              <a:t>We will use (OR operator) to store the characters and (LEFT – SHIFT) by 8 so to </a:t>
            </a:r>
            <a:br>
              <a:rPr lang="en-IN" dirty="0" smtClean="0"/>
            </a:br>
            <a:r>
              <a:rPr lang="en-IN" dirty="0" smtClean="0"/>
              <a:t>make room for another 8 bits</a:t>
            </a:r>
          </a:p>
          <a:p>
            <a:r>
              <a:rPr lang="en-IN" dirty="0" smtClean="0"/>
              <a:t>In similar fashion we will use (RIGHT – SHIFT) to retrieve bits from </a:t>
            </a:r>
            <a:r>
              <a:rPr lang="en-IN" dirty="0" err="1" smtClean="0"/>
              <a:t>val</a:t>
            </a:r>
            <a:r>
              <a:rPr lang="en-IN" dirty="0" smtClean="0"/>
              <a:t> 6 at a time </a:t>
            </a:r>
            <a:br>
              <a:rPr lang="en-IN" dirty="0" smtClean="0"/>
            </a:br>
            <a:r>
              <a:rPr lang="en-IN" dirty="0" smtClean="0"/>
              <a:t>and find value of bits by doing &amp; with 63 (111111) which will give us index. </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Then we can get our resultant character by just going to that index of </a:t>
            </a:r>
            <a:r>
              <a:rPr lang="en-IN" dirty="0" err="1" smtClean="0"/>
              <a:t>char_set</a:t>
            </a:r>
            <a:r>
              <a:rPr lang="en-IN" dirty="0" smtClean="0"/>
              <a:t>.</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6715" y="1785926"/>
            <a:ext cx="8620070" cy="4786346"/>
          </a:xfrm>
          <a:prstGeom prst="rect">
            <a:avLst/>
          </a:prstGeom>
          <a:noFill/>
          <a:ln w="9525">
            <a:noFill/>
            <a:miter lim="800000"/>
            <a:headEnd/>
            <a:tailEnd/>
          </a:ln>
          <a:effectLst/>
        </p:spPr>
      </p:pic>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C program to encode an ASCII </a:t>
            </a:r>
          </a:p>
          <a:p>
            <a:pPr>
              <a:buNone/>
            </a:pPr>
            <a:r>
              <a:rPr lang="en-IN" dirty="0" smtClean="0"/>
              <a:t>// string </a:t>
            </a:r>
            <a:r>
              <a:rPr lang="en-IN" b="1" dirty="0" smtClean="0"/>
              <a:t>in</a:t>
            </a:r>
            <a:r>
              <a:rPr lang="en-IN" dirty="0" smtClean="0"/>
              <a:t> Base64 format </a:t>
            </a:r>
          </a:p>
          <a:p>
            <a:pPr>
              <a:buNone/>
            </a:pPr>
            <a:r>
              <a:rPr lang="en-IN" dirty="0" smtClean="0"/>
              <a:t>#include &lt;</a:t>
            </a:r>
            <a:r>
              <a:rPr lang="en-IN" dirty="0" err="1" smtClean="0"/>
              <a:t>stdio.h</a:t>
            </a:r>
            <a:r>
              <a:rPr lang="en-IN" dirty="0" smtClean="0"/>
              <a:t>&gt; </a:t>
            </a:r>
          </a:p>
          <a:p>
            <a:pPr>
              <a:buNone/>
            </a:pPr>
            <a:r>
              <a:rPr lang="en-IN" dirty="0" smtClean="0"/>
              <a:t>#include &lt;</a:t>
            </a:r>
            <a:r>
              <a:rPr lang="en-IN" dirty="0" err="1" smtClean="0"/>
              <a:t>stdlib.h</a:t>
            </a:r>
            <a:r>
              <a:rPr lang="en-IN" dirty="0" smtClean="0"/>
              <a:t>&gt; </a:t>
            </a:r>
          </a:p>
          <a:p>
            <a:pPr>
              <a:buNone/>
            </a:pPr>
            <a:r>
              <a:rPr lang="en-IN" dirty="0" smtClean="0"/>
              <a:t>#define SIZE 1000</a:t>
            </a:r>
          </a:p>
          <a:p>
            <a:pPr>
              <a:buNone/>
            </a:pPr>
            <a:r>
              <a:rPr lang="en-IN" dirty="0" smtClean="0"/>
              <a:t>// Takes string to be encoded </a:t>
            </a:r>
            <a:r>
              <a:rPr lang="en-IN" b="1" dirty="0" smtClean="0"/>
              <a:t>as</a:t>
            </a:r>
            <a:r>
              <a:rPr lang="en-IN" dirty="0" smtClean="0"/>
              <a:t> input</a:t>
            </a:r>
          </a:p>
          <a:p>
            <a:pPr>
              <a:buNone/>
            </a:pPr>
            <a:r>
              <a:rPr lang="en-IN" dirty="0" smtClean="0"/>
              <a:t>// </a:t>
            </a:r>
            <a:r>
              <a:rPr lang="en-IN" b="1" dirty="0" smtClean="0"/>
              <a:t>and</a:t>
            </a:r>
            <a:r>
              <a:rPr lang="en-IN" dirty="0" smtClean="0"/>
              <a:t> its length </a:t>
            </a:r>
            <a:r>
              <a:rPr lang="en-IN" b="1" dirty="0" smtClean="0"/>
              <a:t>and</a:t>
            </a:r>
            <a:r>
              <a:rPr lang="en-IN" dirty="0" smtClean="0"/>
              <a:t> returns encoded string</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char* base64Encoder(char </a:t>
            </a:r>
            <a:r>
              <a:rPr lang="en-IN" dirty="0" err="1" smtClean="0"/>
              <a:t>input_str</a:t>
            </a:r>
            <a:r>
              <a:rPr lang="en-IN" dirty="0" smtClean="0"/>
              <a:t>[], </a:t>
            </a:r>
            <a:r>
              <a:rPr lang="en-IN" dirty="0" err="1" smtClean="0"/>
              <a:t>int</a:t>
            </a:r>
            <a:r>
              <a:rPr lang="en-IN" dirty="0" smtClean="0"/>
              <a:t> </a:t>
            </a:r>
            <a:r>
              <a:rPr lang="en-IN" dirty="0" err="1" smtClean="0"/>
              <a:t>len_str</a:t>
            </a:r>
            <a:r>
              <a:rPr lang="en-IN" dirty="0" smtClean="0"/>
              <a:t>)</a:t>
            </a:r>
          </a:p>
          <a:p>
            <a:pPr>
              <a:buNone/>
            </a:pPr>
            <a:r>
              <a:rPr lang="en-IN" dirty="0" smtClean="0"/>
              <a:t>{</a:t>
            </a:r>
          </a:p>
          <a:p>
            <a:pPr>
              <a:buNone/>
            </a:pPr>
            <a:r>
              <a:rPr lang="en-IN" dirty="0" smtClean="0"/>
              <a:t>// Character set of base64 encoding scheme char </a:t>
            </a:r>
            <a:r>
              <a:rPr lang="en-IN" dirty="0" err="1" smtClean="0"/>
              <a:t>char_set</a:t>
            </a:r>
            <a:r>
              <a:rPr lang="en-IN" dirty="0" smtClean="0"/>
              <a:t>[] = </a:t>
            </a:r>
          </a:p>
          <a:p>
            <a:pPr>
              <a:buNone/>
            </a:pPr>
            <a:r>
              <a:rPr lang="en-IN" dirty="0" smtClean="0"/>
              <a:t>"ABCDEFGHIJKLMNOPQRSTUVWXYZabcdefghijklmnopqrstuvwxyz0123456789+/";</a:t>
            </a:r>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Resultant string</a:t>
            </a:r>
          </a:p>
          <a:p>
            <a:pPr>
              <a:buNone/>
            </a:pPr>
            <a:r>
              <a:rPr lang="en-IN" dirty="0" smtClean="0"/>
              <a:t>char *</a:t>
            </a:r>
            <a:r>
              <a:rPr lang="en-IN" dirty="0" err="1" smtClean="0"/>
              <a:t>res_str</a:t>
            </a:r>
            <a:r>
              <a:rPr lang="en-IN" dirty="0" smtClean="0"/>
              <a:t> = (char *) </a:t>
            </a:r>
            <a:r>
              <a:rPr lang="en-IN" dirty="0" err="1" smtClean="0"/>
              <a:t>malloc</a:t>
            </a:r>
            <a:r>
              <a:rPr lang="en-IN" dirty="0" smtClean="0"/>
              <a:t>(SIZE * </a:t>
            </a:r>
            <a:r>
              <a:rPr lang="en-IN" dirty="0" err="1" smtClean="0"/>
              <a:t>sizeof</a:t>
            </a:r>
            <a:r>
              <a:rPr lang="en-IN" dirty="0" smtClean="0"/>
              <a:t>(char));</a:t>
            </a:r>
          </a:p>
          <a:p>
            <a:pPr>
              <a:buNone/>
            </a:pPr>
            <a:r>
              <a:rPr lang="en-IN" dirty="0" err="1" smtClean="0"/>
              <a:t>int</a:t>
            </a:r>
            <a:r>
              <a:rPr lang="en-IN" dirty="0" smtClean="0"/>
              <a:t> index, </a:t>
            </a:r>
            <a:r>
              <a:rPr lang="en-IN" dirty="0" err="1" smtClean="0"/>
              <a:t>no_of_bits</a:t>
            </a:r>
            <a:r>
              <a:rPr lang="en-IN" dirty="0" smtClean="0"/>
              <a:t> = 0, padding = 0, </a:t>
            </a:r>
            <a:r>
              <a:rPr lang="en-IN" dirty="0" err="1" smtClean="0"/>
              <a:t>val</a:t>
            </a:r>
            <a:r>
              <a:rPr lang="en-IN" dirty="0" smtClean="0"/>
              <a:t> = 0, count = 0, temp;</a:t>
            </a:r>
          </a:p>
          <a:p>
            <a:pPr>
              <a:buNone/>
            </a:pPr>
            <a:r>
              <a:rPr lang="en-IN" dirty="0" err="1" smtClean="0"/>
              <a:t>int</a:t>
            </a:r>
            <a:r>
              <a:rPr lang="en-IN" dirty="0" smtClean="0"/>
              <a:t> i, j, k = 0;</a:t>
            </a:r>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Loop takes 3 characters at a time </a:t>
            </a:r>
            <a:r>
              <a:rPr lang="en-IN" b="1" dirty="0" smtClean="0"/>
              <a:t>from</a:t>
            </a:r>
            <a:r>
              <a:rPr lang="en-IN" dirty="0" smtClean="0"/>
              <a:t>  //</a:t>
            </a:r>
            <a:r>
              <a:rPr lang="en-IN" dirty="0" err="1" smtClean="0"/>
              <a:t>input_str</a:t>
            </a:r>
            <a:r>
              <a:rPr lang="en-IN" dirty="0" smtClean="0"/>
              <a:t> </a:t>
            </a:r>
            <a:r>
              <a:rPr lang="en-IN" b="1" dirty="0" smtClean="0"/>
              <a:t>and</a:t>
            </a:r>
            <a:r>
              <a:rPr lang="en-IN" dirty="0" smtClean="0"/>
              <a:t> stores it </a:t>
            </a:r>
            <a:r>
              <a:rPr lang="en-IN" b="1" dirty="0" smtClean="0"/>
              <a:t>in</a:t>
            </a:r>
            <a:r>
              <a:rPr lang="en-IN" dirty="0" smtClean="0"/>
              <a:t> </a:t>
            </a:r>
            <a:r>
              <a:rPr lang="en-IN" dirty="0" err="1" smtClean="0"/>
              <a:t>val</a:t>
            </a:r>
            <a:endParaRPr lang="en-IN" b="1" dirty="0" smtClean="0"/>
          </a:p>
          <a:p>
            <a:pPr>
              <a:buNone/>
            </a:pPr>
            <a:r>
              <a:rPr lang="en-IN" b="1" dirty="0" smtClean="0"/>
              <a:t>for</a:t>
            </a:r>
            <a:r>
              <a:rPr lang="en-IN" dirty="0" smtClean="0"/>
              <a:t> (i = 0; i &lt; </a:t>
            </a:r>
            <a:r>
              <a:rPr lang="en-IN" dirty="0" err="1" smtClean="0"/>
              <a:t>len_str</a:t>
            </a:r>
            <a:r>
              <a:rPr lang="en-IN" dirty="0" smtClean="0"/>
              <a:t>; i += 3) </a:t>
            </a:r>
          </a:p>
          <a:p>
            <a:pPr>
              <a:buNone/>
            </a:pPr>
            <a:r>
              <a:rPr lang="en-IN" dirty="0" smtClean="0"/>
              <a:t>{</a:t>
            </a:r>
          </a:p>
          <a:p>
            <a:pPr>
              <a:buNone/>
            </a:pPr>
            <a:r>
              <a:rPr lang="en-IN" dirty="0" err="1" smtClean="0"/>
              <a:t>val</a:t>
            </a:r>
            <a:r>
              <a:rPr lang="en-IN" dirty="0" smtClean="0"/>
              <a:t> = 0, count = 0, </a:t>
            </a:r>
            <a:r>
              <a:rPr lang="en-IN" dirty="0" err="1" smtClean="0"/>
              <a:t>no_of_bits</a:t>
            </a:r>
            <a:r>
              <a:rPr lang="en-IN" dirty="0" smtClean="0"/>
              <a:t> = 0;</a:t>
            </a:r>
          </a:p>
          <a:p>
            <a:pPr>
              <a:buNone/>
            </a:pPr>
            <a:r>
              <a:rPr lang="nb-NO" b="1" dirty="0" smtClean="0"/>
              <a:t>for</a:t>
            </a:r>
            <a:r>
              <a:rPr lang="nb-NO" dirty="0" smtClean="0"/>
              <a:t> (j = i; j &lt; len_str &amp;&amp; j &lt;= i + 2; j++)</a:t>
            </a:r>
          </a:p>
          <a:p>
            <a:pPr>
              <a:buNone/>
            </a:pPr>
            <a:r>
              <a:rPr lang="en-IN" dirty="0" smtClean="0"/>
              <a:t>{</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IN" dirty="0" smtClean="0"/>
              <a:t>// binary data of </a:t>
            </a:r>
            <a:r>
              <a:rPr lang="en-IN" dirty="0" err="1" smtClean="0"/>
              <a:t>input_str</a:t>
            </a:r>
            <a:r>
              <a:rPr lang="en-IN" dirty="0" smtClean="0"/>
              <a:t> </a:t>
            </a:r>
            <a:r>
              <a:rPr lang="en-IN" b="1" dirty="0" smtClean="0"/>
              <a:t>is</a:t>
            </a:r>
            <a:r>
              <a:rPr lang="en-IN" dirty="0" smtClean="0"/>
              <a:t> stored </a:t>
            </a:r>
            <a:r>
              <a:rPr lang="en-IN" b="1" dirty="0" smtClean="0"/>
              <a:t>in</a:t>
            </a:r>
            <a:r>
              <a:rPr lang="en-IN" dirty="0" smtClean="0"/>
              <a:t> </a:t>
            </a:r>
            <a:r>
              <a:rPr lang="en-IN" dirty="0" err="1" smtClean="0"/>
              <a:t>val</a:t>
            </a:r>
            <a:r>
              <a:rPr lang="en-IN" dirty="0" smtClean="0"/>
              <a:t> </a:t>
            </a:r>
          </a:p>
          <a:p>
            <a:pPr>
              <a:buNone/>
            </a:pPr>
            <a:r>
              <a:rPr lang="en-IN" dirty="0" err="1" smtClean="0"/>
              <a:t>val</a:t>
            </a:r>
            <a:r>
              <a:rPr lang="en-IN" dirty="0" smtClean="0"/>
              <a:t> = </a:t>
            </a:r>
            <a:r>
              <a:rPr lang="en-IN" dirty="0" err="1" smtClean="0"/>
              <a:t>val</a:t>
            </a:r>
            <a:r>
              <a:rPr lang="en-IN" dirty="0" smtClean="0"/>
              <a:t> &lt;&lt; 8;</a:t>
            </a:r>
          </a:p>
          <a:p>
            <a:pPr>
              <a:buNone/>
            </a:pPr>
            <a:r>
              <a:rPr lang="en-IN" dirty="0" smtClean="0"/>
              <a:t>// (A + 0 = A) stores character </a:t>
            </a:r>
            <a:r>
              <a:rPr lang="en-IN" b="1" dirty="0" smtClean="0"/>
              <a:t>in</a:t>
            </a:r>
            <a:r>
              <a:rPr lang="en-IN" dirty="0" smtClean="0"/>
              <a:t> </a:t>
            </a:r>
            <a:r>
              <a:rPr lang="en-IN" dirty="0" err="1" smtClean="0"/>
              <a:t>val</a:t>
            </a:r>
            <a:endParaRPr lang="en-IN" dirty="0" smtClean="0"/>
          </a:p>
          <a:p>
            <a:pPr>
              <a:buNone/>
            </a:pPr>
            <a:r>
              <a:rPr lang="en-IN" dirty="0" err="1" smtClean="0"/>
              <a:t>val</a:t>
            </a:r>
            <a:r>
              <a:rPr lang="en-IN" dirty="0" smtClean="0"/>
              <a:t> = </a:t>
            </a:r>
            <a:r>
              <a:rPr lang="en-IN" dirty="0" err="1" smtClean="0"/>
              <a:t>val</a:t>
            </a:r>
            <a:r>
              <a:rPr lang="en-IN" dirty="0" smtClean="0"/>
              <a:t> | </a:t>
            </a:r>
            <a:r>
              <a:rPr lang="en-IN" dirty="0" err="1" smtClean="0"/>
              <a:t>input_str</a:t>
            </a:r>
            <a:r>
              <a:rPr lang="en-IN" dirty="0" smtClean="0"/>
              <a:t>[j];</a:t>
            </a:r>
          </a:p>
          <a:p>
            <a:pPr>
              <a:buNone/>
            </a:pPr>
            <a:r>
              <a:rPr lang="en-IN" dirty="0" smtClean="0"/>
              <a:t>// calculates how many time loop </a:t>
            </a:r>
          </a:p>
          <a:p>
            <a:pPr>
              <a:buNone/>
            </a:pPr>
            <a:r>
              <a:rPr lang="en-IN" dirty="0" smtClean="0"/>
              <a:t>// ran </a:t>
            </a:r>
            <a:r>
              <a:rPr lang="en-IN" b="1" dirty="0" smtClean="0"/>
              <a:t>if</a:t>
            </a:r>
            <a:r>
              <a:rPr lang="en-IN" dirty="0" smtClean="0"/>
              <a:t> "MEN" -&gt; 3 otherwise "ON" -&gt; 2 </a:t>
            </a:r>
          </a:p>
          <a:p>
            <a:pPr>
              <a:buNone/>
            </a:pPr>
            <a:r>
              <a:rPr lang="en-IN" dirty="0" smtClean="0"/>
              <a:t>count++; </a:t>
            </a:r>
          </a:p>
          <a:p>
            <a:pPr>
              <a:buNone/>
            </a:pPr>
            <a:r>
              <a:rPr lang="en-IN" dirty="0" smtClean="0"/>
              <a:t>}</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IN" dirty="0" err="1" smtClean="0"/>
              <a:t>no_of_bits</a:t>
            </a:r>
            <a:r>
              <a:rPr lang="en-IN" dirty="0" smtClean="0"/>
              <a:t> = count * 8;</a:t>
            </a:r>
          </a:p>
          <a:p>
            <a:pPr>
              <a:buNone/>
            </a:pPr>
            <a:r>
              <a:rPr lang="en-IN" dirty="0" smtClean="0"/>
              <a:t>// calculates how many "=" to append after </a:t>
            </a:r>
            <a:r>
              <a:rPr lang="en-IN" dirty="0" err="1" smtClean="0"/>
              <a:t>res_str</a:t>
            </a:r>
            <a:r>
              <a:rPr lang="en-IN" dirty="0" smtClean="0"/>
              <a:t>.</a:t>
            </a:r>
          </a:p>
          <a:p>
            <a:pPr>
              <a:buNone/>
            </a:pPr>
            <a:r>
              <a:rPr lang="en-IN" dirty="0" smtClean="0"/>
              <a:t>padding = </a:t>
            </a:r>
            <a:r>
              <a:rPr lang="en-IN" dirty="0" err="1" smtClean="0"/>
              <a:t>no_of_bits</a:t>
            </a:r>
            <a:r>
              <a:rPr lang="en-IN" dirty="0" smtClean="0"/>
              <a:t> % 3; </a:t>
            </a:r>
          </a:p>
          <a:p>
            <a:pPr>
              <a:buNone/>
            </a:pPr>
            <a:r>
              <a:rPr lang="en-IN" dirty="0" smtClean="0"/>
              <a:t>// extracts all bits </a:t>
            </a:r>
            <a:r>
              <a:rPr lang="en-IN" b="1" dirty="0" smtClean="0"/>
              <a:t>from</a:t>
            </a:r>
            <a:r>
              <a:rPr lang="en-IN" dirty="0" smtClean="0"/>
              <a:t> </a:t>
            </a:r>
            <a:r>
              <a:rPr lang="en-IN" b="1" dirty="0" err="1" smtClean="0"/>
              <a:t>val</a:t>
            </a:r>
            <a:r>
              <a:rPr lang="en-IN" dirty="0" smtClean="0"/>
              <a:t> (6 at a time)</a:t>
            </a:r>
          </a:p>
          <a:p>
            <a:pPr>
              <a:buNone/>
            </a:pPr>
            <a:r>
              <a:rPr lang="en-IN" dirty="0" smtClean="0"/>
              <a:t>// </a:t>
            </a:r>
            <a:r>
              <a:rPr lang="en-IN" b="1" dirty="0" smtClean="0"/>
              <a:t>and</a:t>
            </a:r>
            <a:r>
              <a:rPr lang="en-IN" dirty="0" smtClean="0"/>
              <a:t> find the value of each block</a:t>
            </a:r>
          </a:p>
          <a:p>
            <a:pPr>
              <a:buNone/>
            </a:pPr>
            <a:r>
              <a:rPr lang="en-IN" b="1" dirty="0" smtClean="0"/>
              <a:t>while</a:t>
            </a:r>
            <a:r>
              <a:rPr lang="en-IN" dirty="0" smtClean="0"/>
              <a:t> (</a:t>
            </a:r>
            <a:r>
              <a:rPr lang="en-IN" dirty="0" err="1" smtClean="0"/>
              <a:t>no_of_bits</a:t>
            </a:r>
            <a:r>
              <a:rPr lang="en-IN" dirty="0" smtClean="0"/>
              <a:t> != 0) </a:t>
            </a:r>
          </a:p>
          <a:p>
            <a:pPr>
              <a:buNone/>
            </a:pPr>
            <a:r>
              <a:rPr lang="en-IN" dirty="0" smtClean="0"/>
              <a:t>{</a:t>
            </a:r>
          </a:p>
          <a:p>
            <a:pPr>
              <a:buNone/>
            </a:pP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retrieve the value of each block </a:t>
            </a:r>
          </a:p>
          <a:p>
            <a:pPr>
              <a:buNone/>
            </a:pPr>
            <a:r>
              <a:rPr lang="en-IN" b="1" dirty="0" smtClean="0"/>
              <a:t>if</a:t>
            </a:r>
            <a:r>
              <a:rPr lang="en-IN" dirty="0" smtClean="0"/>
              <a:t> (</a:t>
            </a:r>
            <a:r>
              <a:rPr lang="en-IN" dirty="0" err="1" smtClean="0"/>
              <a:t>no_of_bits</a:t>
            </a:r>
            <a:r>
              <a:rPr lang="en-IN" dirty="0" smtClean="0"/>
              <a:t> &gt;= 6)</a:t>
            </a:r>
          </a:p>
          <a:p>
            <a:pPr>
              <a:buNone/>
            </a:pPr>
            <a:r>
              <a:rPr lang="en-IN" dirty="0" smtClean="0"/>
              <a:t>{</a:t>
            </a:r>
          </a:p>
          <a:p>
            <a:pPr>
              <a:buNone/>
            </a:pPr>
            <a:r>
              <a:rPr lang="en-IN" dirty="0" smtClean="0"/>
              <a:t>temp = </a:t>
            </a:r>
            <a:r>
              <a:rPr lang="en-IN" dirty="0" err="1" smtClean="0"/>
              <a:t>no_of_bits</a:t>
            </a:r>
            <a:r>
              <a:rPr lang="en-IN" dirty="0" smtClean="0"/>
              <a:t> - 6;</a:t>
            </a:r>
          </a:p>
          <a:p>
            <a:pPr>
              <a:buNone/>
            </a:pPr>
            <a:r>
              <a:rPr lang="en-IN" dirty="0" smtClean="0"/>
              <a:t>// binary of 63 </a:t>
            </a:r>
            <a:r>
              <a:rPr lang="en-IN" b="1" dirty="0" smtClean="0"/>
              <a:t>is</a:t>
            </a:r>
            <a:r>
              <a:rPr lang="en-IN" dirty="0" smtClean="0"/>
              <a:t> (111111)</a:t>
            </a:r>
          </a:p>
          <a:p>
            <a:pPr>
              <a:buNone/>
            </a:pPr>
            <a:r>
              <a:rPr lang="en-IN" dirty="0" smtClean="0"/>
              <a:t>index = (</a:t>
            </a:r>
            <a:r>
              <a:rPr lang="en-IN" dirty="0" err="1" smtClean="0"/>
              <a:t>val</a:t>
            </a:r>
            <a:r>
              <a:rPr lang="en-IN" dirty="0" smtClean="0"/>
              <a:t> &gt;&gt; temp) &amp; 63;</a:t>
            </a:r>
          </a:p>
          <a:p>
            <a:pPr>
              <a:buNone/>
            </a:pPr>
            <a:r>
              <a:rPr lang="en-IN" dirty="0" err="1" smtClean="0"/>
              <a:t>no_of_bits</a:t>
            </a:r>
            <a:r>
              <a:rPr lang="en-IN" dirty="0" smtClean="0"/>
              <a:t> -= 6; </a:t>
            </a:r>
          </a:p>
          <a:p>
            <a:pPr>
              <a:buNone/>
            </a:pP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a:t>
            </a:r>
          </a:p>
          <a:p>
            <a:pPr>
              <a:buNone/>
            </a:pPr>
            <a:r>
              <a:rPr lang="en-IN" b="1" dirty="0" smtClean="0"/>
              <a:t>else</a:t>
            </a:r>
            <a:r>
              <a:rPr lang="en-IN" dirty="0" smtClean="0"/>
              <a:t> </a:t>
            </a:r>
          </a:p>
          <a:p>
            <a:pPr>
              <a:buNone/>
            </a:pPr>
            <a:r>
              <a:rPr lang="en-IN" dirty="0" smtClean="0"/>
              <a:t>{</a:t>
            </a:r>
          </a:p>
          <a:p>
            <a:pPr>
              <a:buNone/>
            </a:pPr>
            <a:r>
              <a:rPr lang="en-IN" dirty="0" smtClean="0"/>
              <a:t>temp = 6 - </a:t>
            </a:r>
            <a:r>
              <a:rPr lang="en-IN" dirty="0" err="1" smtClean="0"/>
              <a:t>no_of_bits</a:t>
            </a:r>
            <a:r>
              <a:rPr lang="en-IN" dirty="0" smtClean="0"/>
              <a:t>;</a:t>
            </a:r>
          </a:p>
          <a:p>
            <a:pPr>
              <a:buNone/>
            </a:pPr>
            <a:r>
              <a:rPr lang="en-IN" dirty="0" smtClean="0"/>
              <a:t>// append zeros to right </a:t>
            </a:r>
            <a:r>
              <a:rPr lang="en-IN" b="1" dirty="0" smtClean="0"/>
              <a:t>if</a:t>
            </a:r>
            <a:r>
              <a:rPr lang="en-IN" dirty="0" smtClean="0"/>
              <a:t> bits are less than 6</a:t>
            </a:r>
          </a:p>
          <a:p>
            <a:pPr>
              <a:buNone/>
            </a:pPr>
            <a:r>
              <a:rPr lang="en-IN" dirty="0" smtClean="0"/>
              <a:t>index = (</a:t>
            </a:r>
            <a:r>
              <a:rPr lang="en-IN" dirty="0" err="1" smtClean="0"/>
              <a:t>val</a:t>
            </a:r>
            <a:r>
              <a:rPr lang="en-IN" dirty="0" smtClean="0"/>
              <a:t> &lt;&lt; temp) &amp; 63; </a:t>
            </a:r>
          </a:p>
          <a:p>
            <a:pPr>
              <a:buNone/>
            </a:pPr>
            <a:r>
              <a:rPr lang="en-IN" dirty="0" err="1" smtClean="0"/>
              <a:t>no_of_bits</a:t>
            </a:r>
            <a:r>
              <a:rPr lang="en-IN" dirty="0" smtClean="0"/>
              <a:t> = 0;</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IN" dirty="0" smtClean="0"/>
              <a:t>}</a:t>
            </a:r>
          </a:p>
          <a:p>
            <a:pPr>
              <a:buNone/>
            </a:pPr>
            <a:r>
              <a:rPr lang="en-IN" dirty="0" err="1" smtClean="0"/>
              <a:t>res_str</a:t>
            </a:r>
            <a:r>
              <a:rPr lang="en-IN" dirty="0" smtClean="0"/>
              <a:t>[k++] = </a:t>
            </a:r>
            <a:r>
              <a:rPr lang="en-IN" dirty="0" err="1" smtClean="0"/>
              <a:t>char_set</a:t>
            </a:r>
            <a:r>
              <a:rPr lang="en-IN" dirty="0" smtClean="0"/>
              <a:t>[index];</a:t>
            </a:r>
          </a:p>
          <a:p>
            <a:pPr>
              <a:buNone/>
            </a:pPr>
            <a:r>
              <a:rPr lang="en-IN" dirty="0" smtClean="0"/>
              <a:t>} </a:t>
            </a:r>
          </a:p>
          <a:p>
            <a:pPr>
              <a:buNone/>
            </a:pPr>
            <a:r>
              <a:rPr lang="en-IN" dirty="0" smtClean="0"/>
              <a:t>}</a:t>
            </a:r>
          </a:p>
          <a:p>
            <a:pPr>
              <a:buNone/>
            </a:pPr>
            <a:r>
              <a:rPr lang="en-IN" dirty="0" smtClean="0"/>
              <a:t>// padding </a:t>
            </a:r>
            <a:r>
              <a:rPr lang="en-IN" b="1" dirty="0" smtClean="0"/>
              <a:t>is</a:t>
            </a:r>
            <a:r>
              <a:rPr lang="en-IN" dirty="0" smtClean="0"/>
              <a:t> done here</a:t>
            </a:r>
          </a:p>
          <a:p>
            <a:pPr>
              <a:buNone/>
            </a:pPr>
            <a:r>
              <a:rPr lang="nn-NO" b="1" dirty="0" smtClean="0"/>
              <a:t>for</a:t>
            </a:r>
            <a:r>
              <a:rPr lang="nn-NO" dirty="0" smtClean="0"/>
              <a:t> (i = 1; i &lt;= padding; i++) </a:t>
            </a:r>
          </a:p>
          <a:p>
            <a:pPr>
              <a:buNone/>
            </a:pPr>
            <a:r>
              <a:rPr lang="en-IN" dirty="0" smtClean="0"/>
              <a:t>{ </a:t>
            </a:r>
          </a:p>
          <a:p>
            <a:pPr>
              <a:buNone/>
            </a:pPr>
            <a:r>
              <a:rPr lang="en-IN" dirty="0" err="1" smtClean="0"/>
              <a:t>res_str</a:t>
            </a:r>
            <a:r>
              <a:rPr lang="en-IN" dirty="0" smtClean="0"/>
              <a:t>[k++] = '='; </a:t>
            </a:r>
          </a:p>
          <a:p>
            <a:pPr>
              <a:buNone/>
            </a:pPr>
            <a:r>
              <a:rPr lang="en-IN" dirty="0" smtClean="0"/>
              <a:t>}</a:t>
            </a: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t/>
            </a:r>
            <a:br>
              <a:rPr lang="en-IN" dirty="0" smtClean="0"/>
            </a:br>
            <a:r>
              <a:rPr lang="en-IN" dirty="0" err="1" smtClean="0"/>
              <a:t>res_str</a:t>
            </a:r>
            <a:r>
              <a:rPr lang="en-IN" dirty="0" smtClean="0"/>
              <a:t>[k] = '</a:t>
            </a:r>
            <a:r>
              <a:rPr lang="en-IN" b="1" dirty="0" smtClean="0"/>
              <a:t>\0</a:t>
            </a:r>
            <a:r>
              <a:rPr lang="en-IN" dirty="0" smtClean="0"/>
              <a:t>'; </a:t>
            </a:r>
          </a:p>
          <a:p>
            <a:pPr>
              <a:buNone/>
            </a:pPr>
            <a:r>
              <a:rPr lang="en-IN" b="1" dirty="0" smtClean="0"/>
              <a:t>return</a:t>
            </a:r>
            <a:r>
              <a:rPr lang="en-IN" dirty="0" smtClean="0"/>
              <a:t> </a:t>
            </a:r>
            <a:r>
              <a:rPr lang="en-IN" dirty="0" err="1" smtClean="0"/>
              <a:t>res_str</a:t>
            </a:r>
            <a:r>
              <a:rPr lang="en-IN" dirty="0" smtClean="0"/>
              <a:t>;</a:t>
            </a:r>
          </a:p>
          <a:p>
            <a:pPr>
              <a:buNone/>
            </a:pPr>
            <a:r>
              <a:rPr lang="en-IN" dirty="0" smtClean="0"/>
              <a:t>} </a:t>
            </a:r>
            <a:br>
              <a:rPr lang="en-IN" dirty="0" smtClean="0"/>
            </a:br>
            <a:endParaRPr lang="en-IN" dirty="0"/>
          </a:p>
        </p:txBody>
      </p:sp>
      <p:sp>
        <p:nvSpPr>
          <p:cNvPr id="4" name="Title 1"/>
          <p:cNvSpPr>
            <a:spLocks noGrp="1"/>
          </p:cNvSpPr>
          <p:nvPr>
            <p:ph type="title"/>
          </p:nvPr>
        </p:nvSpPr>
        <p:spPr/>
        <p:txBody>
          <a:bodyPr/>
          <a:lstStyle/>
          <a:p>
            <a:r>
              <a:rPr lang="en-US" b="1" dirty="0" smtClean="0"/>
              <a:t>PRACTICAL NO : 07</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46980</TotalTime>
  <Words>3672</Words>
  <Application>Microsoft Office PowerPoint</Application>
  <PresentationFormat>On-screen Show (4:3)</PresentationFormat>
  <Paragraphs>666</Paragraphs>
  <Slides>122</Slides>
  <Notes>0</Notes>
  <HiddenSlides>0</HiddenSlides>
  <MMClips>0</MMClips>
  <ScaleCrop>false</ScaleCrop>
  <HeadingPairs>
    <vt:vector size="4" baseType="variant">
      <vt:variant>
        <vt:lpstr>Theme</vt:lpstr>
      </vt:variant>
      <vt:variant>
        <vt:i4>1</vt:i4>
      </vt:variant>
      <vt:variant>
        <vt:lpstr>Slide Titles</vt:lpstr>
      </vt:variant>
      <vt:variant>
        <vt:i4>122</vt:i4>
      </vt:variant>
    </vt:vector>
  </HeadingPairs>
  <TitlesOfParts>
    <vt:vector size="123" baseType="lpstr">
      <vt:lpstr>Office Theme</vt:lpstr>
      <vt:lpstr>LAB CRYPTOGRAPHY AND NETWORK SECURITY</vt:lpstr>
      <vt:lpstr>BASICS OF THE COURSE</vt:lpstr>
      <vt:lpstr>BASICS OF THE COURSE</vt:lpstr>
      <vt:lpstr>PRACTICAL NO : 01</vt:lpstr>
      <vt:lpstr>PRACTICAL NO : 01</vt:lpstr>
      <vt:lpstr>PRACTICAL NO : 01</vt:lpstr>
      <vt:lpstr>PRACTICAL NO : 01</vt:lpstr>
      <vt:lpstr>PRACTICAL NO : 01</vt:lpstr>
      <vt:lpstr>Slide 9</vt:lpstr>
      <vt:lpstr>Slide 10</vt:lpstr>
      <vt:lpstr>PRACTICAL NO : 01</vt:lpstr>
      <vt:lpstr>PRACTICAL NO : 01</vt:lpstr>
      <vt:lpstr>PRACTICAL NO : 01</vt:lpstr>
      <vt:lpstr>PRACTICAL NO : 01</vt:lpstr>
      <vt:lpstr>PRACTICAL NO : 01</vt:lpstr>
      <vt:lpstr>PRACTICAL NO : 02</vt:lpstr>
      <vt:lpstr>PRACTICAL NO : 02 (A)</vt:lpstr>
      <vt:lpstr>PRACTICAL NO : 02 (A)</vt:lpstr>
      <vt:lpstr>PRACTICAL NO : 02 (A)</vt:lpstr>
      <vt:lpstr>PRACTICAL NO : 02 (A)</vt:lpstr>
      <vt:lpstr>PRACTICAL NO : 02 (A)</vt:lpstr>
      <vt:lpstr>PRACTICAL NO : 02 (A)</vt:lpstr>
      <vt:lpstr>Slide 23</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(A)</vt:lpstr>
      <vt:lpstr>PRACTICAL NO : 02 (B)</vt:lpstr>
      <vt:lpstr>PRACTICAL NO : 02 (B)</vt:lpstr>
      <vt:lpstr>PRACTICAL NO : 02 (B)</vt:lpstr>
      <vt:lpstr>PRACTICAL NO : 02 (B)</vt:lpstr>
      <vt:lpstr>PRACTICAL NO : 02 (B)</vt:lpstr>
      <vt:lpstr>PRACTICAL NO : 02 (B)</vt:lpstr>
      <vt:lpstr>PRACTICAL NO : 02 (B)</vt:lpstr>
      <vt:lpstr>PRACTICAL NO : 02 (B)</vt:lpstr>
      <vt:lpstr>PRACTICAL NO : 02 (B)</vt:lpstr>
      <vt:lpstr>PRACTICAL NO : 03</vt:lpstr>
      <vt:lpstr>PRACTICAL NO : 03(A)</vt:lpstr>
      <vt:lpstr>PRACTICAL NO : 03(A)</vt:lpstr>
      <vt:lpstr>PRACTICAL NO : 03(A)</vt:lpstr>
      <vt:lpstr>PRACTICAL NO : 03(A)</vt:lpstr>
      <vt:lpstr>PRACTICAL NO : 03(A)</vt:lpstr>
      <vt:lpstr>PRACTICAL NO : 03(A)</vt:lpstr>
      <vt:lpstr>Slide 58</vt:lpstr>
      <vt:lpstr>PRACTICAL NO : 03(B)</vt:lpstr>
      <vt:lpstr>PRACTICAL NO : 03(B)</vt:lpstr>
      <vt:lpstr>PRACTICAL NO : 03(B)</vt:lpstr>
      <vt:lpstr>PRACTICAL NO : 03(B)</vt:lpstr>
      <vt:lpstr>PRACTICAL NO : 03(B)</vt:lpstr>
      <vt:lpstr>PRACTICAL NO : 03(B)</vt:lpstr>
      <vt:lpstr>PRACTICAL NO : 03(B)</vt:lpstr>
      <vt:lpstr>PRACTICAL NO : 03(B)</vt:lpstr>
      <vt:lpstr>PRACTICAL NO : 03(B)</vt:lpstr>
      <vt:lpstr>PRACTICAL NO : 03(B)</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NO : 04</vt:lpstr>
      <vt:lpstr>PRACTICAL : 06</vt:lpstr>
      <vt:lpstr>PRACTICAL : 06</vt:lpstr>
      <vt:lpstr>PRACTICAL : 06</vt:lpstr>
      <vt:lpstr>PRACTICAL : 06</vt:lpstr>
      <vt:lpstr>PRACTICAL : 06</vt:lpstr>
      <vt:lpstr>PRACTICAL : 06</vt:lpstr>
      <vt:lpstr>PRACTICAL : 06</vt:lpstr>
      <vt:lpstr>PRACTICAL : 06</vt:lpstr>
      <vt:lpstr>PRACTICAL : 06</vt:lpstr>
      <vt:lpstr>PRACTICAL : 06</vt:lpstr>
      <vt:lpstr>PRACTICAL : 06</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lpstr>PRACTICAL NO : 07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dc:title>
  <dc:creator>abhishek</dc:creator>
  <cp:lastModifiedBy>abhishek</cp:lastModifiedBy>
  <cp:revision>124</cp:revision>
  <dcterms:created xsi:type="dcterms:W3CDTF">2023-12-15T07:32:12Z</dcterms:created>
  <dcterms:modified xsi:type="dcterms:W3CDTF">2024-04-18T06:45:47Z</dcterms:modified>
</cp:coreProperties>
</file>